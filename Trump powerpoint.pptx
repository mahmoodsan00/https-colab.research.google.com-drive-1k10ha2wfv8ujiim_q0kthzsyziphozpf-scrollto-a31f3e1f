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81" r:id="rId20"/>
    <p:sldId id="278" r:id="rId21"/>
    <p:sldId id="279" r:id="rId2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31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9392" y="3703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5102A"/>
                </a:solidFill>
                <a:latin typeface="Aptos"/>
              </a:defRPr>
            </a:pPr>
            <a:r>
              <a:t>OilSignal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01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417320"/>
            <a:ext cx="265176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25896" y="1463040"/>
            <a:ext cx="257860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/>
              <a:t>GRADUATE PROJECT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828800"/>
            <a:ext cx="114300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4000" b="1">
                <a:solidFill>
                  <a:srgbClr val="F7F4FF"/>
                </a:solidFill>
                <a:latin typeface="Aptos"/>
              </a:defRPr>
            </a:pPr>
            <a:r>
              <a:t>Trump Tweets, Sentiment,</a:t>
            </a:r>
            <a:br/>
            <a:r>
              <a:t>and Crude Oil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54680"/>
            <a:ext cx="1261872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100" b="0">
                <a:solidFill>
                  <a:srgbClr val="B7ACC9"/>
                </a:solidFill>
                <a:latin typeface="Aptos"/>
              </a:defRPr>
            </a:pPr>
            <a:r>
              <a:rPr sz="1300"/>
              <a:t>Applied NLP, Machine Learning, Time-Series Features, and Power BI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977639"/>
            <a:ext cx="2057400" cy="114300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04487" y="4197096"/>
            <a:ext cx="165506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t>1,903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7911" y="4663440"/>
            <a:ext cx="1728216" cy="43088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400"/>
              <a:t>final daily modeling rows</a:t>
            </a:r>
          </a:p>
        </p:txBody>
      </p:sp>
      <p:sp>
        <p:nvSpPr>
          <p:cNvPr id="20" name="Oval 19"/>
          <p:cNvSpPr/>
          <p:nvPr/>
        </p:nvSpPr>
        <p:spPr>
          <a:xfrm>
            <a:off x="3904487" y="4133087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72200" y="3977639"/>
            <a:ext cx="2057400" cy="114300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4197096"/>
            <a:ext cx="165506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t>228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4663440"/>
            <a:ext cx="1728216" cy="21544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400"/>
              <a:t>engineered columns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4133087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641080" y="3977639"/>
            <a:ext cx="2057400" cy="114300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42248" y="4197096"/>
            <a:ext cx="165506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t>0.5257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5672" y="4663440"/>
            <a:ext cx="1728216" cy="43088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400"/>
              <a:t>best balanced accuracy</a:t>
            </a:r>
          </a:p>
        </p:txBody>
      </p:sp>
      <p:sp>
        <p:nvSpPr>
          <p:cNvPr id="28" name="Oval 27"/>
          <p:cNvSpPr/>
          <p:nvPr/>
        </p:nvSpPr>
        <p:spPr>
          <a:xfrm>
            <a:off x="8842248" y="4133087"/>
            <a:ext cx="82296" cy="82296"/>
          </a:xfrm>
          <a:prstGeom prst="ellipse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20240" y="5897880"/>
            <a:ext cx="1078992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700" b="1">
                <a:solidFill>
                  <a:srgbClr val="F7F4FF"/>
                </a:solidFill>
                <a:latin typeface="Aptos"/>
              </a:defRPr>
            </a:pPr>
            <a:r>
              <a:t>Analyzing the Impact of Trump’s Social Media Sentiment on Crude Oil Price Movements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6419088"/>
            <a:ext cx="7132320" cy="58477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000" b="0">
                <a:solidFill>
                  <a:srgbClr val="B7ACC9"/>
                </a:solidFill>
                <a:latin typeface="Aptos"/>
              </a:defRPr>
            </a:pPr>
            <a:r>
              <a:rPr sz="1900">
                <a:solidFill>
                  <a:schemeClr val="bg1"/>
                </a:solidFill>
              </a:rPr>
              <a:t>Zaid Alraggad | Ahmad Junidi | Mahmood Sanwar | Academic Year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02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05840"/>
            <a:ext cx="219456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6" y="1051560"/>
            <a:ext cx="212140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15102A"/>
                </a:solidFill>
                <a:latin typeface="Aptos"/>
              </a:defRPr>
            </a:pPr>
            <a:r>
              <a:rPr sz="1200">
                <a:solidFill>
                  <a:schemeClr val="bg1"/>
                </a:solidFill>
              </a:rPr>
              <a:t>DEFENSE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536192"/>
            <a:ext cx="109728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200" b="1">
                <a:solidFill>
                  <a:srgbClr val="15102A"/>
                </a:solidFill>
                <a:latin typeface="Aptos"/>
              </a:defRPr>
            </a:pPr>
            <a:r>
              <a:t>Project flow: from business question to validated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283464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3017520"/>
            <a:ext cx="64008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66160"/>
            <a:ext cx="2331720" cy="26161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500" b="1">
                <a:solidFill>
                  <a:srgbClr val="15102A"/>
                </a:solidFill>
                <a:latin typeface="Aptos"/>
              </a:defRPr>
            </a:pPr>
            <a:r>
              <a:rPr sz="1700"/>
              <a:t>Problem &amp;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23360"/>
            <a:ext cx="2331720" cy="40011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000" b="0">
                <a:solidFill>
                  <a:srgbClr val="584A78"/>
                </a:solidFill>
                <a:latin typeface="Aptos"/>
              </a:defRPr>
            </a:pPr>
            <a:r>
              <a:rPr sz="1300"/>
              <a:t>Define the research question and avoid exaggerated claims.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83464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3017520"/>
            <a:ext cx="64008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566160"/>
            <a:ext cx="2331720" cy="26161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500" b="1">
                <a:solidFill>
                  <a:srgbClr val="15102A"/>
                </a:solidFill>
                <a:latin typeface="Aptos"/>
              </a:defRPr>
            </a:pPr>
            <a:r>
              <a:rPr sz="1700"/>
              <a:t>Data &amp; NLP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023360"/>
            <a:ext cx="2331720" cy="60016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000" b="0">
                <a:solidFill>
                  <a:srgbClr val="584A78"/>
                </a:solidFill>
                <a:latin typeface="Aptos"/>
              </a:defRPr>
            </a:pPr>
            <a:r>
              <a:rPr sz="1300"/>
              <a:t>Prepare text, score sentiment, engineer keywords, and merge by date.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83464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09559" y="3017520"/>
            <a:ext cx="64008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59" y="3566160"/>
            <a:ext cx="2331720" cy="26161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500" b="1">
                <a:solidFill>
                  <a:srgbClr val="15102A"/>
                </a:solidFill>
                <a:latin typeface="Aptos"/>
              </a:defRPr>
            </a:pPr>
            <a:r>
              <a:rPr sz="1700"/>
              <a:t>Validation &amp;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59" y="4023360"/>
            <a:ext cx="2331720" cy="60016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000" b="0">
                <a:solidFill>
                  <a:srgbClr val="584A78"/>
                </a:solidFill>
                <a:latin typeface="Aptos"/>
              </a:defRPr>
            </a:pPr>
            <a:r>
              <a:rPr sz="1300"/>
              <a:t>Use safe targets, leakage control, baselines, and fair model comparison.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799" y="283464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55679" y="3017520"/>
            <a:ext cx="64008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79" y="3566160"/>
            <a:ext cx="2331720" cy="26161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500" b="1">
                <a:solidFill>
                  <a:srgbClr val="15102A"/>
                </a:solidFill>
                <a:latin typeface="Aptos"/>
              </a:defRPr>
            </a:pPr>
            <a:r>
              <a:rPr sz="1700"/>
              <a:t>Results &amp; defense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79" y="4023360"/>
            <a:ext cx="2331720" cy="60016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000" b="0">
                <a:solidFill>
                  <a:srgbClr val="584A78"/>
                </a:solidFill>
                <a:latin typeface="Aptos"/>
              </a:defRPr>
            </a:pPr>
            <a:r>
              <a:rPr sz="1300"/>
              <a:t>Explain results, limitations, future work, and final conclusion.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5532120"/>
            <a:ext cx="10241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60320" y="5806440"/>
            <a:ext cx="960120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500" b="1">
                <a:solidFill>
                  <a:srgbClr val="15102A"/>
                </a:solidFill>
                <a:latin typeface="Aptos"/>
              </a:defRPr>
            </a:pPr>
            <a:r>
              <a:t>Core stance: this project does not claim tweets control oil; it tests whether sentiment adds measurable signal.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31"/>
            <a:ext cx="14630400" cy="822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03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05840"/>
            <a:ext cx="228600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08776" y="1051560"/>
            <a:ext cx="221284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/>
              <a:t>RESEARCH FRAMING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508760"/>
            <a:ext cx="109728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200" b="1">
                <a:solidFill>
                  <a:srgbClr val="F7F4FF"/>
                </a:solidFill>
                <a:latin typeface="Aptos"/>
              </a:defRPr>
            </a:pPr>
            <a:r>
              <a:t>Research question and analytical claim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2606040"/>
            <a:ext cx="5760720" cy="237744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00200" y="2926080"/>
            <a:ext cx="502920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456432"/>
            <a:ext cx="5074920" cy="9144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800" b="1">
                <a:solidFill>
                  <a:srgbClr val="F7F4FF"/>
                </a:solidFill>
                <a:latin typeface="Aptos"/>
              </a:defRPr>
            </a:pPr>
            <a:r>
              <a:t>Can Trump social-media sentiment and market-related language improve prediction of next-day crude oil direction?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606040"/>
            <a:ext cx="5760720" cy="237744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2926080"/>
            <a:ext cx="502920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ptos"/>
              </a:defRPr>
            </a:pPr>
            <a:r>
              <a:t>Analytical 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456432"/>
            <a:ext cx="5074920" cy="9144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1800" b="1">
                <a:solidFill>
                  <a:srgbClr val="F7F4FF"/>
                </a:solidFill>
                <a:latin typeface="Aptos"/>
              </a:defRPr>
            </a:pPr>
            <a:r>
              <a:t>Tweets are treated as a possible weak signal. The result is only useful if it is tested against oil-only and dummy baselines.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5532120"/>
            <a:ext cx="10424160" cy="141732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103120" y="5532120"/>
            <a:ext cx="182880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2148839" y="5605272"/>
            <a:ext cx="173736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t>Hypothesis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5532120"/>
            <a:ext cx="859536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3977639" y="5605272"/>
            <a:ext cx="850392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5879592"/>
            <a:ext cx="1828800" cy="35661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76272" y="5961888"/>
            <a:ext cx="1682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200"/>
              <a:t>H1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5879592"/>
            <a:ext cx="8595360" cy="35661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05072" y="5961888"/>
            <a:ext cx="844905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Sentiment may contain a limited directional signal.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6236207"/>
            <a:ext cx="1828800" cy="356615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76272" y="6318503"/>
            <a:ext cx="1682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200"/>
              <a:t>H2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6236207"/>
            <a:ext cx="8595360" cy="356615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05072" y="6318503"/>
            <a:ext cx="844905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Sentiment must add value beyond oil-history features.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03120" y="6592824"/>
            <a:ext cx="1828800" cy="35661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2176272" y="6675120"/>
            <a:ext cx="1682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7F4FF"/>
                </a:solidFill>
                <a:latin typeface="Aptos"/>
              </a:defRPr>
            </a:pPr>
            <a:r>
              <a:rPr sz="1200" dirty="0"/>
              <a:t>H3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6592824"/>
            <a:ext cx="8595360" cy="35661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05072" y="6675120"/>
            <a:ext cx="844905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Weak performance means limited market signal, not necessarily project failure.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9392" y="3703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5102A"/>
                </a:solidFill>
                <a:latin typeface="Aptos"/>
              </a:defRPr>
            </a:pPr>
            <a:r>
              <a:t>OilSignal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04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05840"/>
            <a:ext cx="201168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1051560"/>
            <a:ext cx="193852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/>
              <a:t>PROBLEM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508760"/>
            <a:ext cx="109728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400" b="1">
                <a:solidFill>
                  <a:srgbClr val="F7F4FF"/>
                </a:solidFill>
                <a:latin typeface="Aptos"/>
              </a:defRPr>
            </a:pPr>
            <a:r>
              <a:t>Why oil prediction is difficult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2514600"/>
            <a:ext cx="8046720" cy="320040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8760" y="2788920"/>
            <a:ext cx="7315200" cy="13234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7F4FF"/>
                </a:solidFill>
                <a:latin typeface="Aptos"/>
              </a:defRPr>
            </a:pPr>
            <a:r>
              <a:rPr sz="1600"/>
              <a:t>• Oil prices respond to many forces: OPEC, inventories, sanctions, wars, inflation, interest rates, FX, and expectations.</a:t>
            </a:r>
            <a:br>
              <a:rPr sz="1600"/>
            </a:br>
            <a:r>
              <a:rPr sz="1600"/>
              <a:t>• Tweets are noisy and often political rather than directly energy-related.</a:t>
            </a:r>
            <a:br>
              <a:rPr sz="1600"/>
            </a:br>
            <a:r>
              <a:rPr sz="1600"/>
              <a:t>• Daily data can miss fast reactions that happen within hours.</a:t>
            </a:r>
            <a:br>
              <a:rPr sz="1600"/>
            </a:br>
            <a:r>
              <a:rPr sz="1600"/>
              <a:t>• Random splits or same-day targets can create fake accuracy.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2514600"/>
            <a:ext cx="3886200" cy="1234440"/>
          </a:xfrm>
          <a:prstGeom prst="roundRect">
            <a:avLst/>
          </a:prstGeom>
          <a:solidFill>
            <a:srgbClr val="140A19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29800" y="2788920"/>
            <a:ext cx="333756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Aptos"/>
              </a:defRPr>
            </a:pPr>
            <a:r>
              <a:t>Bad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182112"/>
            <a:ext cx="3474720" cy="411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400" b="1">
                <a:solidFill>
                  <a:srgbClr val="F7F4FF"/>
                </a:solidFill>
                <a:latin typeface="Aptos"/>
              </a:defRPr>
            </a:pPr>
            <a:r>
              <a:t>“Trump tweets predict oil prices.”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4251960"/>
            <a:ext cx="3886200" cy="141732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29800" y="4526280"/>
            <a:ext cx="333756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Aptos"/>
              </a:defRPr>
            </a:pPr>
            <a:r>
              <a:t>Defensible 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4919472"/>
            <a:ext cx="347472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300" b="1">
                <a:solidFill>
                  <a:srgbClr val="F7F4FF"/>
                </a:solidFill>
                <a:latin typeface="Aptos"/>
              </a:defRPr>
            </a:pPr>
            <a:r>
              <a:t>“Tweet sentiment may add a limited signal, but only after strict validation.”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64040" y="379476"/>
            <a:ext cx="90525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" b="1">
                <a:solidFill>
                  <a:srgbClr val="FFFFFF"/>
                </a:solidFill>
                <a:latin typeface="Aptos"/>
              </a:defRPr>
            </a:pPr>
            <a:r>
              <a:t>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05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960120"/>
            <a:ext cx="210312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300216" y="1005840"/>
            <a:ext cx="2029967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15102A"/>
                </a:solidFill>
                <a:latin typeface="Aptos"/>
              </a:defRPr>
            </a:pPr>
            <a:r>
              <a:rPr sz="1200">
                <a:solidFill>
                  <a:schemeClr val="bg1"/>
                </a:solidFill>
              </a:rPr>
              <a:t>OBJECTIVES &amp;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417320"/>
            <a:ext cx="109728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200" b="1">
                <a:solidFill>
                  <a:srgbClr val="15102A"/>
                </a:solidFill>
                <a:latin typeface="Aptos"/>
              </a:defRPr>
            </a:pPr>
            <a:r>
              <a:t>Objectives, scope, and boundaries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423160"/>
            <a:ext cx="6583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417320" y="2743200"/>
            <a:ext cx="5897880" cy="181588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5102A"/>
                </a:solidFill>
                <a:latin typeface="Aptos"/>
              </a:defRPr>
            </a:pPr>
            <a:r>
              <a:rPr sz="1600" dirty="0"/>
              <a:t>• Prepare Trump posts and crude oil price data.</a:t>
            </a:r>
            <a:br>
              <a:rPr sz="1600" dirty="0"/>
            </a:br>
            <a:r>
              <a:rPr sz="1600" dirty="0"/>
              <a:t>• Clean text and score sentiment.</a:t>
            </a:r>
            <a:br>
              <a:rPr sz="1600" dirty="0"/>
            </a:br>
            <a:r>
              <a:rPr sz="1600" dirty="0"/>
              <a:t>• Build keyword, engagement, lag, and rolling features.</a:t>
            </a:r>
            <a:br>
              <a:rPr sz="1600" dirty="0"/>
            </a:br>
            <a:r>
              <a:rPr sz="1600" dirty="0"/>
              <a:t>• Create next-day targets without future leakage.</a:t>
            </a:r>
            <a:br>
              <a:rPr sz="1600" dirty="0"/>
            </a:br>
            <a:r>
              <a:rPr sz="1600" dirty="0"/>
              <a:t>• Compare dummy, oil-only, and sentiment-enhanced models.</a:t>
            </a:r>
            <a:br>
              <a:rPr sz="1600" dirty="0"/>
            </a:br>
            <a:r>
              <a:rPr sz="1600" dirty="0"/>
              <a:t>• Present results through Power BI dashboards and honest interpretation.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423160"/>
            <a:ext cx="5166360" cy="278892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2423160"/>
            <a:ext cx="256032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496312"/>
            <a:ext cx="2468879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200"/>
              <a:t>Included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35640" y="2423160"/>
            <a:ext cx="260604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10881360" y="2496312"/>
            <a:ext cx="251460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200"/>
              <a:t>Not claimed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770632"/>
            <a:ext cx="2560320" cy="610362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2" y="2852927"/>
            <a:ext cx="2414015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200"/>
              <a:t>2017–2025 posts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35640" y="2770632"/>
            <a:ext cx="2606040" cy="610362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08792" y="2852927"/>
            <a:ext cx="245973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Causal proof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3380994"/>
            <a:ext cx="2560320" cy="610362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2" y="3463289"/>
            <a:ext cx="2414015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200"/>
              <a:t>Daily oil + optional hourly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35640" y="3380994"/>
            <a:ext cx="2606040" cy="610362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08792" y="3463289"/>
            <a:ext cx="245973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Trading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3991356"/>
            <a:ext cx="2560320" cy="610362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8472" y="4073652"/>
            <a:ext cx="2414015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7F4FF"/>
                </a:solidFill>
                <a:latin typeface="Aptos"/>
              </a:defRPr>
            </a:pPr>
            <a:r>
              <a:rPr sz="1200"/>
              <a:t>NLP + ML + dashboards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35640" y="3991356"/>
            <a:ext cx="2606040" cy="610362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08792" y="4073652"/>
            <a:ext cx="245973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Guaranteed high accuracy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4601718"/>
            <a:ext cx="2560320" cy="610362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48472" y="4684014"/>
            <a:ext cx="2414015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7F4FF"/>
                </a:solidFill>
                <a:latin typeface="Aptos"/>
              </a:defRPr>
            </a:pPr>
            <a:r>
              <a:rPr sz="1200"/>
              <a:t>Event study + error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35640" y="4601718"/>
            <a:ext cx="2606040" cy="610362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08792" y="4684014"/>
            <a:ext cx="245973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Complete macro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9392" y="3703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5102A"/>
                </a:solidFill>
                <a:latin typeface="Aptos"/>
              </a:defRPr>
            </a:pPr>
            <a:r>
              <a:t>OilSignal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06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54480"/>
            <a:ext cx="192024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1600200"/>
            <a:ext cx="184708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/>
              <a:t>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148840"/>
            <a:ext cx="109728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800" b="1">
                <a:solidFill>
                  <a:srgbClr val="F7F4FF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07792"/>
            <a:ext cx="1261872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100" b="0">
                <a:solidFill>
                  <a:srgbClr val="B7ACC9"/>
                </a:solidFill>
                <a:latin typeface="Aptos"/>
              </a:defRPr>
            </a:pPr>
            <a:r>
              <a:rPr sz="1200"/>
              <a:t>The notebook turns raw tweets and oil prices into a validated analytics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794760"/>
            <a:ext cx="6949440" cy="182880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4389120" y="4279392"/>
            <a:ext cx="585216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800" b="1">
                <a:solidFill>
                  <a:srgbClr val="F7F4FF"/>
                </a:solidFill>
                <a:latin typeface="Aptos"/>
              </a:defRPr>
            </a:pPr>
            <a:r>
              <a:rPr sz="2000"/>
              <a:t>From raw data to defensible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773168"/>
            <a:ext cx="5394960" cy="43088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300" b="0">
                <a:solidFill>
                  <a:srgbClr val="B7ACC9"/>
                </a:solidFill>
                <a:latin typeface="Aptos"/>
              </a:defRPr>
            </a:pPr>
            <a:r>
              <a:rPr sz="1400" dirty="0"/>
              <a:t>clean → score sentiment → engineer features → split chronologically → model → dashboard → conclude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3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9392" y="3703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5102A"/>
                </a:solidFill>
                <a:latin typeface="Aptos"/>
              </a:defRPr>
            </a:pPr>
            <a:r>
              <a:t>OilSignal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07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005840"/>
            <a:ext cx="192024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1051560"/>
            <a:ext cx="184708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/>
              <a:t>DATA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508760"/>
            <a:ext cx="109728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400" b="1">
                <a:solidFill>
                  <a:srgbClr val="F7F4FF"/>
                </a:solidFill>
                <a:latin typeface="Aptos"/>
              </a:defRPr>
            </a:pPr>
            <a:r>
              <a:t>Data sources and dataset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2423160"/>
            <a:ext cx="8046720" cy="301752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1560" y="2423160"/>
            <a:ext cx="246888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2496312"/>
            <a:ext cx="237744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200"/>
              <a:t>Dataset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423160"/>
            <a:ext cx="137160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2496312"/>
            <a:ext cx="128016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200"/>
              <a:t>Rows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2423160"/>
            <a:ext cx="155448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59" y="2496312"/>
            <a:ext cx="1463039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200"/>
              <a:t>Columns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423160"/>
            <a:ext cx="265176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496312"/>
            <a:ext cx="256032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200"/>
              <a:t>Purpose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2770632"/>
            <a:ext cx="2468880" cy="534009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1124712" y="2852927"/>
            <a:ext cx="23225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200"/>
              <a:t>Trump tweets raw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2770632"/>
            <a:ext cx="1371600" cy="534009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93592" y="2852927"/>
            <a:ext cx="12252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58,392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2770632"/>
            <a:ext cx="1554480" cy="534009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65192" y="2852927"/>
            <a:ext cx="14081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2770632"/>
            <a:ext cx="2651760" cy="534009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9672" y="2852927"/>
            <a:ext cx="250545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Raw social-media 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" y="3304641"/>
            <a:ext cx="2468880" cy="534009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4712" y="3386937"/>
            <a:ext cx="23225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200"/>
              <a:t>Cleaned tweets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3304641"/>
            <a:ext cx="1371600" cy="534009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93592" y="3386937"/>
            <a:ext cx="12252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58,389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3304641"/>
            <a:ext cx="1554480" cy="534009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65192" y="3386937"/>
            <a:ext cx="14081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33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3304641"/>
            <a:ext cx="2651760" cy="534009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19672" y="3386937"/>
            <a:ext cx="250545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NLP-ready records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1560" y="3838651"/>
            <a:ext cx="2468880" cy="534009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4712" y="3920947"/>
            <a:ext cx="23225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7F4FF"/>
                </a:solidFill>
                <a:latin typeface="Aptos"/>
              </a:defRPr>
            </a:pPr>
            <a:r>
              <a:rPr sz="1200"/>
              <a:t>Daily crude oil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838651"/>
            <a:ext cx="1371600" cy="534009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93592" y="3920947"/>
            <a:ext cx="12252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2,252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92040" y="3838651"/>
            <a:ext cx="1554480" cy="534009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965192" y="3920947"/>
            <a:ext cx="1408176" cy="1538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lvl="1"/>
            <a:r>
              <a:rPr sz="1000" dirty="0">
                <a:solidFill>
                  <a:schemeClr val="bg1"/>
                </a:solidFill>
              </a:rPr>
              <a:t>07 / 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3838651"/>
            <a:ext cx="2651760" cy="534009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19672" y="3920947"/>
            <a:ext cx="250545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Market features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1560" y="4372660"/>
            <a:ext cx="2468880" cy="534009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24712" y="4454956"/>
            <a:ext cx="23225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7F4FF"/>
                </a:solidFill>
                <a:latin typeface="Aptos"/>
              </a:defRPr>
            </a:pPr>
            <a:r>
              <a:rPr sz="1200"/>
              <a:t>Hourly oil raw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4372660"/>
            <a:ext cx="1371600" cy="534009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93592" y="4454956"/>
            <a:ext cx="12252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89,395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92040" y="4372660"/>
            <a:ext cx="1554480" cy="534009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65192" y="4454956"/>
            <a:ext cx="14081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4372660"/>
            <a:ext cx="2651760" cy="534009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19672" y="4454956"/>
            <a:ext cx="250545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Intraday context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1560" y="4906670"/>
            <a:ext cx="2468880" cy="534009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8" name="TextBox 57"/>
          <p:cNvSpPr txBox="1"/>
          <p:nvPr/>
        </p:nvSpPr>
        <p:spPr>
          <a:xfrm>
            <a:off x="1124712" y="4988966"/>
            <a:ext cx="2322576" cy="442569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7F4FF"/>
                </a:solidFill>
                <a:latin typeface="Aptos"/>
              </a:defRPr>
            </a:pPr>
            <a:r>
              <a:t>Final merged table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4906670"/>
            <a:ext cx="1371600" cy="534009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93592" y="4988966"/>
            <a:ext cx="12252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1,903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92040" y="4906670"/>
            <a:ext cx="1554480" cy="534009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65192" y="4988966"/>
            <a:ext cx="14081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228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4906670"/>
            <a:ext cx="2651760" cy="534009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19672" y="4988966"/>
            <a:ext cx="250545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Daily modeling table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46920" y="2560320"/>
            <a:ext cx="1508760" cy="114300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848088" y="2779776"/>
            <a:ext cx="110642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t>58,392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11512" y="3246120"/>
            <a:ext cx="11795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200" dirty="0"/>
              <a:t>raw tweet rows</a:t>
            </a:r>
          </a:p>
        </p:txBody>
      </p:sp>
      <p:sp>
        <p:nvSpPr>
          <p:cNvPr id="68" name="Oval 67"/>
          <p:cNvSpPr/>
          <p:nvPr/>
        </p:nvSpPr>
        <p:spPr>
          <a:xfrm>
            <a:off x="9848088" y="271576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1475720" y="2560320"/>
            <a:ext cx="1508760" cy="114300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676888" y="2779776"/>
            <a:ext cx="110642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t>2,252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640312" y="3246120"/>
            <a:ext cx="11795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200"/>
              <a:t>daily oil rows</a:t>
            </a:r>
          </a:p>
        </p:txBody>
      </p:sp>
      <p:sp>
        <p:nvSpPr>
          <p:cNvPr id="72" name="Oval 71"/>
          <p:cNvSpPr/>
          <p:nvPr/>
        </p:nvSpPr>
        <p:spPr>
          <a:xfrm>
            <a:off x="11676888" y="2715768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9646920" y="4160520"/>
            <a:ext cx="1508760" cy="114300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848088" y="4379976"/>
            <a:ext cx="110642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t>1,903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11512" y="4846320"/>
            <a:ext cx="1179576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200"/>
              <a:t>merged daily rows</a:t>
            </a:r>
          </a:p>
        </p:txBody>
      </p:sp>
      <p:sp>
        <p:nvSpPr>
          <p:cNvPr id="76" name="Oval 75"/>
          <p:cNvSpPr/>
          <p:nvPr/>
        </p:nvSpPr>
        <p:spPr>
          <a:xfrm>
            <a:off x="9848088" y="4315968"/>
            <a:ext cx="82296" cy="82296"/>
          </a:xfrm>
          <a:prstGeom prst="ellipse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11475720" y="4160520"/>
            <a:ext cx="1508760" cy="114300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676888" y="4379976"/>
            <a:ext cx="110642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t>228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640312" y="4846320"/>
            <a:ext cx="1179576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200"/>
              <a:t>engineered columns</a:t>
            </a:r>
          </a:p>
        </p:txBody>
      </p:sp>
      <p:sp>
        <p:nvSpPr>
          <p:cNvPr id="80" name="Oval 79"/>
          <p:cNvSpPr/>
          <p:nvPr/>
        </p:nvSpPr>
        <p:spPr>
          <a:xfrm>
            <a:off x="11676888" y="4315968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08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005840"/>
            <a:ext cx="237744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1051560"/>
            <a:ext cx="230428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/>
              <a:t>NOTEBOOK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508760"/>
            <a:ext cx="109728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400" b="1">
                <a:solidFill>
                  <a:srgbClr val="F7F4FF"/>
                </a:solidFill>
                <a:latin typeface="Aptos"/>
              </a:defRPr>
            </a:pPr>
            <a:r>
              <a:t>End-to-end code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2423160"/>
            <a:ext cx="12527280" cy="274320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1560" y="2423160"/>
            <a:ext cx="274320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2496312"/>
            <a:ext cx="265176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200"/>
              <a:t>Stage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2423160"/>
            <a:ext cx="566928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0" y="2496312"/>
            <a:ext cx="557784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200"/>
              <a:t>Code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2423160"/>
            <a:ext cx="411480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0" y="2496312"/>
            <a:ext cx="402336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200"/>
              <a:t>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2770632"/>
            <a:ext cx="2743200" cy="47914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24712" y="2852927"/>
            <a:ext cx="25968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200"/>
              <a:t>Setup &amp; Loading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2770632"/>
            <a:ext cx="5669280" cy="47914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67912" y="2852927"/>
            <a:ext cx="55229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Libraries, paths, CSV loading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64040" y="2770632"/>
            <a:ext cx="4114800" cy="47914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37192" y="2852927"/>
            <a:ext cx="3968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Raw dataframes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" y="3249777"/>
            <a:ext cx="2743200" cy="479145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4712" y="3332073"/>
            <a:ext cx="25968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200"/>
              <a:t>Cleaning &amp; NLP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60" y="3249777"/>
            <a:ext cx="5669280" cy="479145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2" name="TextBox 31"/>
          <p:cNvSpPr txBox="1"/>
          <p:nvPr/>
        </p:nvSpPr>
        <p:spPr>
          <a:xfrm>
            <a:off x="3867912" y="3332073"/>
            <a:ext cx="55229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Text cleaning, VADER/TextBlob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3249777"/>
            <a:ext cx="4114800" cy="479145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9537192" y="3332073"/>
            <a:ext cx="3968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 dirty="0"/>
              <a:t>Sentiment scores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" y="3728923"/>
            <a:ext cx="2743200" cy="47914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24712" y="3811219"/>
            <a:ext cx="25968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7F4FF"/>
                </a:solidFill>
                <a:latin typeface="Aptos"/>
              </a:defRPr>
            </a:pPr>
            <a:r>
              <a:rPr sz="1200"/>
              <a:t>Feature Engineering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4760" y="3728923"/>
            <a:ext cx="5669280" cy="47914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67912" y="3811219"/>
            <a:ext cx="55229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Keywords, aggregation, oil lags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64040" y="3728923"/>
            <a:ext cx="4114800" cy="47914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37192" y="3811219"/>
            <a:ext cx="3968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Daily model table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1560" y="4208068"/>
            <a:ext cx="2743200" cy="479145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4712" y="4290364"/>
            <a:ext cx="25968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7F4FF"/>
                </a:solidFill>
                <a:latin typeface="Aptos"/>
              </a:defRPr>
            </a:pPr>
            <a:r>
              <a:rPr sz="1200"/>
              <a:t>Validation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94760" y="4208068"/>
            <a:ext cx="5669280" cy="479145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67912" y="4290364"/>
            <a:ext cx="55229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Leakage audit + chronological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64040" y="4208068"/>
            <a:ext cx="4114800" cy="479145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6" name="TextBox 45"/>
          <p:cNvSpPr txBox="1"/>
          <p:nvPr/>
        </p:nvSpPr>
        <p:spPr>
          <a:xfrm>
            <a:off x="9537192" y="4290364"/>
            <a:ext cx="3968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 dirty="0"/>
              <a:t>Train/test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1560" y="4687214"/>
            <a:ext cx="2743200" cy="47914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TextBox 47"/>
          <p:cNvSpPr txBox="1"/>
          <p:nvPr/>
        </p:nvSpPr>
        <p:spPr>
          <a:xfrm>
            <a:off x="1124712" y="4769510"/>
            <a:ext cx="2596896" cy="38770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7F4FF"/>
                </a:solidFill>
                <a:latin typeface="Aptos"/>
              </a:defRPr>
            </a:pPr>
            <a:r>
              <a:t>Modeling &amp; Diagnostics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94760" y="4687214"/>
            <a:ext cx="5669280" cy="47914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867912" y="4769510"/>
            <a:ext cx="55229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Models, event study, errors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64040" y="4687214"/>
            <a:ext cx="4114800" cy="479145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37192" y="4769510"/>
            <a:ext cx="3968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Metrics &amp; visuals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0" y="5806440"/>
            <a:ext cx="9144000" cy="96012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063240" y="6108192"/>
            <a:ext cx="850392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400" b="1">
                <a:solidFill>
                  <a:srgbClr val="F7F4FF"/>
                </a:solidFill>
                <a:latin typeface="Aptos"/>
              </a:defRPr>
            </a:pPr>
            <a:r>
              <a:t>Defense logic: every code block reduces noise, avoids leakage, tests the signal, compares baselines, or explains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9392" y="3703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5102A"/>
                </a:solidFill>
                <a:latin typeface="Aptos"/>
              </a:defRPr>
            </a:pPr>
            <a:r>
              <a:t>OilSignal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09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960120"/>
            <a:ext cx="274320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25896" y="1005840"/>
            <a:ext cx="267004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/>
              <a:t>CODE 1 — SETUP &amp;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417320"/>
            <a:ext cx="109728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100" b="1">
                <a:solidFill>
                  <a:srgbClr val="F7F4FF"/>
                </a:solidFill>
                <a:latin typeface="Aptos"/>
              </a:defRPr>
            </a:pPr>
            <a:r>
              <a:t>Reproducible loading before modeling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240280"/>
            <a:ext cx="7589520" cy="4663440"/>
          </a:xfrm>
          <a:prstGeom prst="roundRect">
            <a:avLst/>
          </a:prstGeom>
          <a:solidFill>
            <a:srgbClr val="07050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15568" y="2340864"/>
            <a:ext cx="7370064" cy="292608"/>
          </a:xfrm>
          <a:prstGeom prst="roundRect">
            <a:avLst/>
          </a:prstGeom>
          <a:solidFill>
            <a:srgbClr val="15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34440" y="2441448"/>
            <a:ext cx="64008" cy="640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380744" y="2441448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7048" y="2441448"/>
            <a:ext cx="64008" cy="6400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61872" y="2743200"/>
            <a:ext cx="7086600" cy="360098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19">
                <a:solidFill>
                  <a:srgbClr val="E8DDFF"/>
                </a:solidFill>
                <a:latin typeface="Courier New"/>
              </a:defRPr>
            </a:pPr>
            <a:r>
              <a:rPr sz="1200" dirty="0"/>
              <a:t>import </a:t>
            </a:r>
            <a:r>
              <a:rPr sz="1200" dirty="0" err="1"/>
              <a:t>os</a:t>
            </a:r>
            <a:r>
              <a:rPr sz="1200" dirty="0"/>
              <a:t>, re, warnings</a:t>
            </a:r>
            <a:br>
              <a:rPr sz="1200" dirty="0"/>
            </a:br>
            <a:r>
              <a:rPr sz="1200" dirty="0"/>
              <a:t>from </a:t>
            </a:r>
            <a:r>
              <a:rPr sz="1200" dirty="0" err="1"/>
              <a:t>pathlib</a:t>
            </a:r>
            <a:r>
              <a:rPr sz="1200" dirty="0"/>
              <a:t> import Path</a:t>
            </a:r>
            <a:br>
              <a:rPr sz="1200" dirty="0"/>
            </a:br>
            <a:r>
              <a:rPr sz="1200" dirty="0"/>
              <a:t>import </a:t>
            </a:r>
            <a:r>
              <a:rPr sz="1200" dirty="0" err="1"/>
              <a:t>numpy</a:t>
            </a:r>
            <a:r>
              <a:rPr sz="1200" dirty="0"/>
              <a:t> as np</a:t>
            </a:r>
            <a:br>
              <a:rPr sz="1200" dirty="0"/>
            </a:br>
            <a:r>
              <a:rPr sz="1200" dirty="0"/>
              <a:t>import pandas as pd</a:t>
            </a:r>
            <a:br>
              <a:rPr sz="1200" dirty="0"/>
            </a:br>
            <a:r>
              <a:rPr sz="1200" dirty="0"/>
              <a:t/>
            </a:r>
            <a:br>
              <a:rPr sz="1200" dirty="0"/>
            </a:br>
            <a:r>
              <a:rPr sz="1200" dirty="0" err="1"/>
              <a:t>warnings.filterwarnings</a:t>
            </a:r>
            <a:r>
              <a:rPr sz="1200" dirty="0"/>
              <a:t>('ignore')</a:t>
            </a:r>
            <a:br>
              <a:rPr sz="1200" dirty="0"/>
            </a:br>
            <a:r>
              <a:rPr sz="1200" dirty="0"/>
              <a:t>RANDOM_STATE = 42</a:t>
            </a:r>
            <a:br>
              <a:rPr sz="1200" dirty="0"/>
            </a:br>
            <a:r>
              <a:rPr sz="1200" dirty="0"/>
              <a:t>TEST_SIZE = 0.20</a:t>
            </a:r>
            <a:br>
              <a:rPr sz="1200" dirty="0"/>
            </a:br>
            <a:r>
              <a:rPr sz="1200" dirty="0"/>
              <a:t/>
            </a:r>
            <a:br>
              <a:rPr sz="1200" dirty="0"/>
            </a:br>
            <a:r>
              <a:rPr sz="1200" dirty="0"/>
              <a:t>TWEETS_PATH = </a:t>
            </a:r>
            <a:r>
              <a:rPr sz="1200" dirty="0" err="1"/>
              <a:t>find_existing_path</a:t>
            </a:r>
            <a:r>
              <a:rPr sz="1200" dirty="0"/>
              <a:t>(TWEETS_PATH_CANDIDATES)</a:t>
            </a:r>
            <a:br>
              <a:rPr sz="1200" dirty="0"/>
            </a:br>
            <a:r>
              <a:rPr sz="1200" dirty="0"/>
              <a:t>OIL_DAILY_PATH = </a:t>
            </a:r>
            <a:r>
              <a:rPr sz="1200" dirty="0" err="1"/>
              <a:t>find_existing_path</a:t>
            </a:r>
            <a:r>
              <a:rPr sz="1200" dirty="0"/>
              <a:t>(OIL_DAILY_PATH_CANDIDATES)</a:t>
            </a:r>
            <a:br>
              <a:rPr sz="1200" dirty="0"/>
            </a:br>
            <a:r>
              <a:rPr sz="1200" dirty="0"/>
              <a:t/>
            </a:r>
            <a:br>
              <a:rPr sz="1200" dirty="0"/>
            </a:br>
            <a:r>
              <a:rPr sz="1200" dirty="0" err="1"/>
              <a:t>df_raw</a:t>
            </a:r>
            <a:r>
              <a:rPr sz="1200" dirty="0"/>
              <a:t> = </a:t>
            </a:r>
            <a:r>
              <a:rPr sz="1200" dirty="0" err="1"/>
              <a:t>pd.read_csv</a:t>
            </a:r>
            <a:r>
              <a:rPr sz="1200" dirty="0"/>
              <a:t>(TWEETS_PATH)</a:t>
            </a:r>
            <a:br>
              <a:rPr sz="1200" dirty="0"/>
            </a:br>
            <a:r>
              <a:rPr sz="1200" dirty="0" err="1"/>
              <a:t>oil_daily_raw</a:t>
            </a:r>
            <a:r>
              <a:rPr sz="1200" dirty="0"/>
              <a:t> = </a:t>
            </a:r>
            <a:r>
              <a:rPr sz="1200" dirty="0" err="1"/>
              <a:t>pd.read_csv</a:t>
            </a:r>
            <a:r>
              <a:rPr sz="1200" dirty="0"/>
              <a:t>(OIL_DAILY_PATH)</a:t>
            </a:r>
            <a:br>
              <a:rPr sz="1200" dirty="0"/>
            </a:br>
            <a:r>
              <a:rPr sz="1200" dirty="0"/>
              <a:t/>
            </a:r>
            <a:br>
              <a:rPr sz="1200" dirty="0"/>
            </a:br>
            <a:r>
              <a:rPr sz="1200" dirty="0" err="1"/>
              <a:t>required_tweet_cols</a:t>
            </a:r>
            <a:r>
              <a:rPr sz="1200" dirty="0"/>
              <a:t> = ['date', 'text']</a:t>
            </a:r>
            <a:br>
              <a:rPr sz="1200" dirty="0"/>
            </a:br>
            <a:r>
              <a:rPr sz="1200" dirty="0"/>
              <a:t>missing = [c for c in </a:t>
            </a:r>
            <a:r>
              <a:rPr sz="1200" dirty="0" err="1"/>
              <a:t>required_tweet_cols</a:t>
            </a:r>
            <a:r>
              <a:rPr sz="1200" dirty="0"/>
              <a:t> if c not in </a:t>
            </a:r>
            <a:r>
              <a:rPr sz="1200" dirty="0" err="1"/>
              <a:t>df_raw.columns</a:t>
            </a:r>
            <a:r>
              <a:rPr sz="1200" dirty="0"/>
              <a:t>]</a:t>
            </a:r>
            <a:br>
              <a:rPr sz="1200" dirty="0"/>
            </a:br>
            <a:r>
              <a:rPr sz="1200" dirty="0"/>
              <a:t>if missing:</a:t>
            </a:r>
            <a:br>
              <a:rPr sz="1200" dirty="0"/>
            </a:br>
            <a:r>
              <a:rPr sz="1200" dirty="0"/>
              <a:t>    raise </a:t>
            </a:r>
            <a:r>
              <a:rPr sz="1200" dirty="0" err="1"/>
              <a:t>ValueError</a:t>
            </a:r>
            <a:r>
              <a:rPr sz="1200" dirty="0"/>
              <a:t>(</a:t>
            </a:r>
            <a:r>
              <a:rPr sz="1200" dirty="0" err="1"/>
              <a:t>f'Missing</a:t>
            </a:r>
            <a:r>
              <a:rPr sz="1200" dirty="0"/>
              <a:t> columns: {missing}')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514600"/>
            <a:ext cx="4389120" cy="347472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2880360"/>
            <a:ext cx="3749039" cy="212365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7F4FF"/>
                </a:solidFill>
                <a:latin typeface="Aptos"/>
              </a:defRPr>
            </a:pPr>
            <a:r>
              <a:rPr sz="1600"/>
              <a:t>• Uses RANDOM_STATE = 42 for reproducibility.</a:t>
            </a:r>
          </a:p>
          <a:p>
            <a:pPr>
              <a:spcAft>
                <a:spcPts val="800"/>
              </a:spcAft>
              <a:defRPr sz="1300">
                <a:solidFill>
                  <a:srgbClr val="F7F4FF"/>
                </a:solidFill>
                <a:latin typeface="Aptos"/>
              </a:defRPr>
            </a:pPr>
            <a:r>
              <a:rPr sz="1600"/>
              <a:t>• Works in Colab, local folders, and /mnt/data.</a:t>
            </a:r>
          </a:p>
          <a:p>
            <a:pPr>
              <a:spcAft>
                <a:spcPts val="800"/>
              </a:spcAft>
              <a:defRPr sz="1300">
                <a:solidFill>
                  <a:srgbClr val="F7F4FF"/>
                </a:solidFill>
                <a:latin typeface="Aptos"/>
              </a:defRPr>
            </a:pPr>
            <a:r>
              <a:rPr sz="1600"/>
              <a:t>• Validates required columns early.</a:t>
            </a:r>
          </a:p>
          <a:p>
            <a:pPr>
              <a:spcAft>
                <a:spcPts val="800"/>
              </a:spcAft>
              <a:defRPr sz="1300">
                <a:solidFill>
                  <a:srgbClr val="F7F4FF"/>
                </a:solidFill>
                <a:latin typeface="Aptos"/>
              </a:defRPr>
            </a:pPr>
            <a:r>
              <a:rPr sz="1600"/>
              <a:t>• Professional projects fail early with clear errors.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31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9392" y="3703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5102A"/>
                </a:solidFill>
                <a:latin typeface="Aptos"/>
              </a:defRPr>
            </a:pPr>
            <a:r>
              <a:t>OilSignal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10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965960"/>
            <a:ext cx="6309360" cy="2240280"/>
          </a:xfrm>
          <a:prstGeom prst="roundRect">
            <a:avLst/>
          </a:prstGeom>
          <a:solidFill>
            <a:srgbClr val="07050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0392" y="2039112"/>
            <a:ext cx="6163056" cy="301752"/>
          </a:xfrm>
          <a:prstGeom prst="roundRect">
            <a:avLst/>
          </a:prstGeom>
          <a:solidFill>
            <a:srgbClr val="15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8408" y="2144268"/>
            <a:ext cx="64008" cy="6400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24712" y="2144268"/>
            <a:ext cx="64008" cy="6400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71016" y="2144268"/>
            <a:ext cx="64008" cy="6400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2468880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E7F6FF"/>
                </a:solidFill>
                <a:latin typeface="Consolas"/>
              </a:rPr>
              <a:t>clean_text = clean_text_for_sentiment(text)</a:t>
            </a:r>
          </a:p>
          <a:p>
            <a:r>
              <a:rPr sz="850" b="0">
                <a:solidFill>
                  <a:srgbClr val="E7F6FF"/>
                </a:solidFill>
                <a:latin typeface="Consolas"/>
              </a:rPr>
              <a:t># remove URLs, mentions, media 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200400"/>
            <a:ext cx="5852160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40" b="0">
                <a:solidFill>
                  <a:srgbClr val="D9E7F2"/>
                </a:solidFill>
                <a:latin typeface="Aptos"/>
              </a:rPr>
              <a:t>• Creates clean_text before NLP.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D9E7F2"/>
                </a:solidFill>
                <a:latin typeface="Aptos"/>
              </a:rPr>
              <a:t>• Reduces platform noise before sentiment.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D9E7F2"/>
                </a:solidFill>
                <a:latin typeface="Aptos"/>
              </a:rPr>
              <a:t>• Keeps useful hashtag words for keywords.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965960"/>
            <a:ext cx="6309360" cy="2240280"/>
          </a:xfrm>
          <a:prstGeom prst="roundRect">
            <a:avLst/>
          </a:prstGeom>
          <a:solidFill>
            <a:srgbClr val="07050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16952" y="2039112"/>
            <a:ext cx="6163056" cy="301752"/>
          </a:xfrm>
          <a:prstGeom prst="roundRect">
            <a:avLst/>
          </a:prstGeom>
          <a:solidFill>
            <a:srgbClr val="15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44968" y="2144268"/>
            <a:ext cx="64008" cy="6400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891272" y="2144268"/>
            <a:ext cx="64008" cy="6400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37576" y="2144268"/>
            <a:ext cx="64008" cy="6400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26679" y="2468880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E7F6FF"/>
                </a:solidFill>
                <a:latin typeface="Consolas"/>
              </a:rPr>
              <a:t>polarity = VADER compound score</a:t>
            </a:r>
          </a:p>
          <a:p>
            <a:r>
              <a:rPr sz="850" b="0">
                <a:solidFill>
                  <a:srgbClr val="E7F6FF"/>
                </a:solidFill>
                <a:latin typeface="Consolas"/>
              </a:rPr>
              <a:t>subjectivity = TextBlob 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00400"/>
            <a:ext cx="5852160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40" b="0">
                <a:solidFill>
                  <a:srgbClr val="D9E7F2"/>
                </a:solidFill>
                <a:latin typeface="Aptos"/>
              </a:rPr>
              <a:t>• Turns tweet text into numeric signals.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D9E7F2"/>
                </a:solidFill>
                <a:latin typeface="Aptos"/>
              </a:rPr>
              <a:t>• VADER fits short social-media text.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D9E7F2"/>
                </a:solidFill>
                <a:latin typeface="Aptos"/>
              </a:rPr>
              <a:t>• Sentiment is an input, not a conclusion.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617720"/>
            <a:ext cx="6309360" cy="2240280"/>
          </a:xfrm>
          <a:prstGeom prst="roundRect">
            <a:avLst/>
          </a:prstGeom>
          <a:solidFill>
            <a:srgbClr val="07050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50392" y="4690872"/>
            <a:ext cx="6163056" cy="301752"/>
          </a:xfrm>
          <a:prstGeom prst="roundRect">
            <a:avLst/>
          </a:prstGeom>
          <a:solidFill>
            <a:srgbClr val="15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8408" y="4796028"/>
            <a:ext cx="64008" cy="6400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24712" y="4796028"/>
            <a:ext cx="64008" cy="6400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271016" y="4796028"/>
            <a:ext cx="64008" cy="6400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5120640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E7F6FF"/>
                </a:solidFill>
                <a:latin typeface="Consolas"/>
              </a:rPr>
              <a:t>daily_tweets = df.groupby(date_day).agg(...)</a:t>
            </a:r>
          </a:p>
          <a:p>
            <a:r>
              <a:rPr sz="850" b="0">
                <a:solidFill>
                  <a:srgbClr val="E7F6FF"/>
                </a:solidFill>
                <a:latin typeface="Consolas"/>
              </a:rPr>
              <a:t>market_keyword_mentions = sum(counts)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852160"/>
            <a:ext cx="5852160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40" b="0">
                <a:solidFill>
                  <a:srgbClr val="D9E7F2"/>
                </a:solidFill>
                <a:latin typeface="Aptos"/>
              </a:rPr>
              <a:t>• Builds one analytical record per day.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D9E7F2"/>
                </a:solidFill>
                <a:latin typeface="Aptos"/>
              </a:rPr>
              <a:t>• Captures oil, OPEC, trade, sanctions, inflation.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D9E7F2"/>
                </a:solidFill>
                <a:latin typeface="Aptos"/>
              </a:rPr>
              <a:t>• Adds tweet count, sentiment, and engagement.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4617720"/>
            <a:ext cx="6309360" cy="2240280"/>
          </a:xfrm>
          <a:prstGeom prst="roundRect">
            <a:avLst/>
          </a:prstGeom>
          <a:solidFill>
            <a:srgbClr val="07050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616952" y="4690872"/>
            <a:ext cx="6163056" cy="301752"/>
          </a:xfrm>
          <a:prstGeom prst="roundRect">
            <a:avLst/>
          </a:prstGeom>
          <a:solidFill>
            <a:srgbClr val="15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744968" y="4796028"/>
            <a:ext cx="64008" cy="6400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891272" y="4796028"/>
            <a:ext cx="64008" cy="6400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037576" y="4796028"/>
            <a:ext cx="64008" cy="6400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26679" y="5120640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E7F6FF"/>
                </a:solidFill>
                <a:latin typeface="Consolas"/>
              </a:rPr>
              <a:t>return_pct = close.pct_change() * 100</a:t>
            </a:r>
          </a:p>
          <a:p>
            <a:r>
              <a:rPr sz="850" b="0">
                <a:solidFill>
                  <a:srgbClr val="E7F6FF"/>
                </a:solidFill>
                <a:latin typeface="Consolas"/>
              </a:rPr>
              <a:t>target = return_pct.shift(-1)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852160"/>
            <a:ext cx="5852160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40" b="0">
                <a:solidFill>
                  <a:srgbClr val="D9E7F2"/>
                </a:solidFill>
                <a:latin typeface="Aptos"/>
              </a:rPr>
              <a:t>• Predicts next-day oil direction/return.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D9E7F2"/>
                </a:solidFill>
                <a:latin typeface="Aptos"/>
              </a:rPr>
              <a:t>• Uses lags and rolling features.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D9E7F2"/>
                </a:solidFill>
                <a:latin typeface="Aptos"/>
              </a:rPr>
              <a:t>• Avoids same-day leakage before modeling.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34440" y="6995160"/>
            <a:ext cx="12161520" cy="411480"/>
          </a:xfrm>
          <a:prstGeom prst="roundRect">
            <a:avLst/>
          </a:prstGeom>
          <a:solidFill>
            <a:srgbClr val="0B0816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417320" y="7114032"/>
            <a:ext cx="117957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8BE9FF"/>
                </a:solidFill>
                <a:latin typeface="Aptos"/>
              </a:rPr>
              <a:t>clean_text  →  sentiment_score  →  daily_tweets features  →  oil lags/rolling features  →  next-day target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03520" y="950976"/>
            <a:ext cx="4023360" cy="329184"/>
          </a:xfrm>
          <a:prstGeom prst="roundRect">
            <a:avLst/>
          </a:prstGeom>
          <a:solidFill>
            <a:srgbClr val="15102B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40680" y="1033271"/>
            <a:ext cx="37490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8BE9FF"/>
                </a:solidFill>
                <a:latin typeface="Aptos"/>
              </a:rPr>
              <a:t>DATA PREPARATION PIPELINE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22275" y="1353312"/>
            <a:ext cx="1038585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DATA CLEANING &amp; NL</a:t>
            </a:r>
            <a:r>
              <a:rPr lang="ar-JO" sz="2000" dirty="0">
                <a:solidFill>
                  <a:schemeClr val="accent1"/>
                </a:solidFill>
              </a:rPr>
              <a:t>+</a:t>
            </a:r>
            <a:r>
              <a:rPr lang="en-US" sz="2000" dirty="0">
                <a:solidFill>
                  <a:schemeClr val="accent1"/>
                </a:solidFill>
              </a:rPr>
              <a:t>PSENTIMENT LOGIC</a:t>
            </a:r>
            <a:r>
              <a:rPr lang="ar-JO" sz="2000" dirty="0">
                <a:solidFill>
                  <a:schemeClr val="accent1"/>
                </a:solidFill>
              </a:rPr>
              <a:t>+</a:t>
            </a:r>
            <a:r>
              <a:rPr lang="en-US" sz="2000" dirty="0">
                <a:solidFill>
                  <a:schemeClr val="accent1"/>
                </a:solidFill>
              </a:rPr>
              <a:t>FEATURE ENGINEERING</a:t>
            </a:r>
            <a:r>
              <a:rPr lang="ar-JO" sz="2000" dirty="0">
                <a:solidFill>
                  <a:schemeClr val="accent1"/>
                </a:solidFill>
              </a:rPr>
              <a:t>+</a:t>
            </a:r>
            <a:r>
              <a:rPr lang="en-US" sz="2000" dirty="0">
                <a:solidFill>
                  <a:schemeClr val="accent1"/>
                </a:solidFill>
              </a:rPr>
              <a:t>MERGE + LEAKAGE CONTROL</a:t>
            </a:r>
          </a:p>
          <a:p>
            <a:pPr algn="ctr"/>
            <a:endParaRPr lang="en-US" sz="2000" dirty="0">
              <a:solidFill>
                <a:schemeClr val="accent1"/>
              </a:solidFill>
            </a:endParaRPr>
          </a:p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307592" y="2057400"/>
            <a:ext cx="2468880" cy="219456"/>
          </a:xfrm>
          <a:prstGeom prst="rect">
            <a:avLst/>
          </a:prstGeom>
          <a:solidFill>
            <a:srgbClr val="15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44168" y="2103120"/>
            <a:ext cx="2743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BE9FF"/>
                </a:solidFill>
                <a:latin typeface="Aptos"/>
              </a:rPr>
              <a:t>1. DATA CLEANING &amp; NLP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74152" y="2057400"/>
            <a:ext cx="2468880" cy="219456"/>
          </a:xfrm>
          <a:prstGeom prst="rect">
            <a:avLst/>
          </a:prstGeom>
          <a:solidFill>
            <a:srgbClr val="15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10727" y="2103120"/>
            <a:ext cx="2743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BE9FF"/>
                </a:solidFill>
                <a:latin typeface="Aptos"/>
              </a:rPr>
              <a:t>2. SENTIMENT LOGIC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07592" y="4709159"/>
            <a:ext cx="2468880" cy="219456"/>
          </a:xfrm>
          <a:prstGeom prst="rect">
            <a:avLst/>
          </a:prstGeom>
          <a:solidFill>
            <a:srgbClr val="15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344168" y="4754880"/>
            <a:ext cx="2743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BE9FF"/>
                </a:solidFill>
                <a:latin typeface="Aptos"/>
              </a:rPr>
              <a:t>3. FEATURE ENGINEERING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74152" y="4709159"/>
            <a:ext cx="2468880" cy="219456"/>
          </a:xfrm>
          <a:prstGeom prst="rect">
            <a:avLst/>
          </a:prstGeom>
          <a:solidFill>
            <a:srgbClr val="15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10727" y="4754880"/>
            <a:ext cx="2743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BE9FF"/>
                </a:solidFill>
                <a:latin typeface="Aptos"/>
              </a:rPr>
              <a:t>4. OIL TARGET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11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960120"/>
            <a:ext cx="283464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25896" y="1005840"/>
            <a:ext cx="276148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/>
              <a:t>MERGE + LEAKAGE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417320"/>
            <a:ext cx="109728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100" b="1">
                <a:solidFill>
                  <a:srgbClr val="F7F4FF"/>
                </a:solidFill>
                <a:latin typeface="Aptos"/>
              </a:defRPr>
            </a:pPr>
            <a:r>
              <a:t>Time-aware table and chronological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194560"/>
            <a:ext cx="7406640" cy="4526280"/>
          </a:xfrm>
          <a:prstGeom prst="roundRect">
            <a:avLst/>
          </a:prstGeom>
          <a:solidFill>
            <a:srgbClr val="07050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4128" y="2295144"/>
            <a:ext cx="7187183" cy="292608"/>
          </a:xfrm>
          <a:prstGeom prst="roundRect">
            <a:avLst/>
          </a:prstGeom>
          <a:solidFill>
            <a:srgbClr val="15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43000" y="2395728"/>
            <a:ext cx="64008" cy="640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89304" y="2395728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435608" y="2395728"/>
            <a:ext cx="64008" cy="6400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0432" y="2697480"/>
            <a:ext cx="6903720" cy="34932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19">
                <a:solidFill>
                  <a:srgbClr val="E8DDFF"/>
                </a:solidFill>
                <a:latin typeface="Courier New"/>
              </a:defRPr>
            </a:pPr>
            <a:r>
              <a:rPr sz="1300"/>
              <a:t>daily_merged = pd.merge(</a:t>
            </a:r>
            <a:br>
              <a:rPr sz="1300"/>
            </a:br>
            <a:r>
              <a:rPr sz="1300"/>
              <a:t>    daily_tweets, oil_model_daily,</a:t>
            </a:r>
            <a:br>
              <a:rPr sz="1300"/>
            </a:br>
            <a:r>
              <a:rPr sz="1300"/>
              <a:t>    on='day', how='inner'</a:t>
            </a:r>
            <a:br>
              <a:rPr sz="1300"/>
            </a:br>
            <a:r>
              <a:rPr sz="1300"/>
              <a:t>).sort_values('day')</a:t>
            </a:r>
            <a:br>
              <a:rPr sz="1300"/>
            </a:br>
            <a:r>
              <a:rPr sz="1300"/>
              <a:t/>
            </a:r>
            <a:br>
              <a:rPr sz="1300"/>
            </a:br>
            <a:r>
              <a:rPr sz="1300"/>
              <a:t>for lag in [1, 2, 3, 5, 7, 14]:</a:t>
            </a:r>
            <a:br>
              <a:rPr sz="1300"/>
            </a:br>
            <a:r>
              <a:rPr sz="1300"/>
              <a:t>    for col in tweet_lag_base_cols:</a:t>
            </a:r>
            <a:br>
              <a:rPr sz="1300"/>
            </a:br>
            <a:r>
              <a:rPr sz="1300"/>
              <a:t>        daily_merged[f'{col}_lag{lag}'] = daily_merged[col].shift(lag)</a:t>
            </a:r>
            <a:br>
              <a:rPr sz="1300"/>
            </a:br>
            <a:r>
              <a:rPr sz="1300"/>
              <a:t/>
            </a:r>
            <a:br>
              <a:rPr sz="1300"/>
            </a:br>
            <a:r>
              <a:rPr sz="1300"/>
              <a:t>for window in [3, 7, 14]:</a:t>
            </a:r>
            <a:br>
              <a:rPr sz="1300"/>
            </a:br>
            <a:r>
              <a:rPr sz="1300"/>
              <a:t>    for col in rolling_base_cols:</a:t>
            </a:r>
            <a:br>
              <a:rPr sz="1300"/>
            </a:br>
            <a:r>
              <a:rPr sz="1300"/>
              <a:t>        daily_merged[f'{col}_roll_mean_{window}'] = (</a:t>
            </a:r>
            <a:br>
              <a:rPr sz="1300"/>
            </a:br>
            <a:r>
              <a:rPr sz="1300"/>
              <a:t>            daily_merged[col].shift(1).rolling(window).mean()</a:t>
            </a:r>
            <a:br>
              <a:rPr sz="1300"/>
            </a:br>
            <a:r>
              <a:rPr sz="1300"/>
              <a:t>        )</a:t>
            </a:r>
            <a:br>
              <a:rPr sz="1300"/>
            </a:br>
            <a:r>
              <a:rPr sz="1300"/>
              <a:t/>
            </a:r>
            <a:br>
              <a:rPr sz="1300"/>
            </a:br>
            <a:r>
              <a:rPr sz="1300"/>
              <a:t>train_df, test_df = chronological_train_test_split(daily_merged)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2514600"/>
            <a:ext cx="4526280" cy="132588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732520" y="2514600"/>
            <a:ext cx="123444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2587752"/>
            <a:ext cx="114300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200"/>
              <a:t>Subset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2514600"/>
            <a:ext cx="82296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12680" y="2587752"/>
            <a:ext cx="73152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200"/>
              <a:t>Rows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89920" y="2514600"/>
            <a:ext cx="246888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35640" y="2587752"/>
            <a:ext cx="237744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200"/>
              <a:t>Period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2862072"/>
            <a:ext cx="1234440" cy="489203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05672" y="2944368"/>
            <a:ext cx="108813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200"/>
              <a:t>Training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2862072"/>
            <a:ext cx="822960" cy="489203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40112" y="2944368"/>
            <a:ext cx="67665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1,522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89920" y="2862072"/>
            <a:ext cx="2468880" cy="489203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863072" y="2944368"/>
            <a:ext cx="23225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2017-02-09 to 2024-06-24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3351276"/>
            <a:ext cx="1234440" cy="489203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05672" y="3433572"/>
            <a:ext cx="108813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200"/>
              <a:t>Testing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3351276"/>
            <a:ext cx="822960" cy="489203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40112" y="3433572"/>
            <a:ext cx="67665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381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89920" y="3351276"/>
            <a:ext cx="2468880" cy="489203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863072" y="3433572"/>
            <a:ext cx="23225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2024-06-25 to 2025-12-30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32520" y="4343400"/>
            <a:ext cx="4526280" cy="150876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52560" y="4645152"/>
            <a:ext cx="388620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Aptos"/>
              </a:defRPr>
            </a:pPr>
            <a:r>
              <a:t>Defense 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5010912"/>
            <a:ext cx="3977639" cy="42062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300" b="1">
                <a:solidFill>
                  <a:srgbClr val="F7F4FF"/>
                </a:solidFill>
                <a:latin typeface="Aptos"/>
              </a:defRPr>
            </a:pPr>
            <a:r>
              <a:t>shift(1) before rolling means the model only sees previous information.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9392" y="3703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5102A"/>
                </a:solidFill>
                <a:latin typeface="Aptos"/>
              </a:defRPr>
            </a:pPr>
            <a:r>
              <a:t>OilSignal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12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960120"/>
            <a:ext cx="237744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1005840"/>
            <a:ext cx="230428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 dirty="0"/>
              <a:t>FEATURE 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417320"/>
            <a:ext cx="109728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100" b="1">
                <a:solidFill>
                  <a:srgbClr val="F7F4FF"/>
                </a:solidFill>
                <a:latin typeface="Aptos"/>
              </a:defRPr>
            </a:pPr>
            <a:r>
              <a:t>Baseline vs sentiment-enhanced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331720"/>
            <a:ext cx="5852160" cy="301752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2697480"/>
            <a:ext cx="521208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Aptos"/>
              </a:defRPr>
            </a:pPr>
            <a:r>
              <a:t>Oil-only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246120"/>
            <a:ext cx="4937760" cy="138499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7F4FF"/>
                </a:solidFill>
                <a:latin typeface="Aptos"/>
              </a:defRPr>
            </a:pPr>
            <a:r>
              <a:rPr sz="1600"/>
              <a:t>• Oil return lags</a:t>
            </a:r>
          </a:p>
          <a:p>
            <a:pPr>
              <a:spcAft>
                <a:spcPts val="800"/>
              </a:spcAft>
              <a:defRPr sz="1300">
                <a:solidFill>
                  <a:srgbClr val="F7F4FF"/>
                </a:solidFill>
                <a:latin typeface="Aptos"/>
              </a:defRPr>
            </a:pPr>
            <a:r>
              <a:rPr sz="1600"/>
              <a:t>• Oil close lags</a:t>
            </a:r>
          </a:p>
          <a:p>
            <a:pPr>
              <a:spcAft>
                <a:spcPts val="800"/>
              </a:spcAft>
              <a:defRPr sz="1300">
                <a:solidFill>
                  <a:srgbClr val="F7F4FF"/>
                </a:solidFill>
                <a:latin typeface="Aptos"/>
              </a:defRPr>
            </a:pPr>
            <a:r>
              <a:rPr sz="1600"/>
              <a:t>• Oil volume lags</a:t>
            </a:r>
          </a:p>
          <a:p>
            <a:pPr>
              <a:spcAft>
                <a:spcPts val="800"/>
              </a:spcAft>
              <a:defRPr sz="1300">
                <a:solidFill>
                  <a:srgbClr val="F7F4FF"/>
                </a:solidFill>
                <a:latin typeface="Aptos"/>
              </a:defRPr>
            </a:pPr>
            <a:r>
              <a:rPr sz="1600"/>
              <a:t>• Volatility and rolling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2331720"/>
            <a:ext cx="5852160" cy="301752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2697480"/>
            <a:ext cx="521208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800" b="1">
                <a:solidFill>
                  <a:srgbClr val="D946EF"/>
                </a:solidFill>
                <a:latin typeface="Aptos"/>
              </a:defRPr>
            </a:pPr>
            <a:r>
              <a:t>Sentiment-enhanced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246120"/>
            <a:ext cx="4937760" cy="138499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7F4FF"/>
                </a:solidFill>
                <a:latin typeface="Aptos"/>
              </a:defRPr>
            </a:pPr>
            <a:r>
              <a:rPr sz="1600"/>
              <a:t>• Baseline oil features</a:t>
            </a:r>
          </a:p>
          <a:p>
            <a:pPr>
              <a:spcAft>
                <a:spcPts val="800"/>
              </a:spcAft>
              <a:defRPr sz="1300">
                <a:solidFill>
                  <a:srgbClr val="F7F4FF"/>
                </a:solidFill>
                <a:latin typeface="Aptos"/>
              </a:defRPr>
            </a:pPr>
            <a:r>
              <a:rPr sz="1600"/>
              <a:t>• Average sentiment</a:t>
            </a:r>
          </a:p>
          <a:p>
            <a:pPr>
              <a:spcAft>
                <a:spcPts val="800"/>
              </a:spcAft>
              <a:defRPr sz="1300">
                <a:solidFill>
                  <a:srgbClr val="F7F4FF"/>
                </a:solidFill>
                <a:latin typeface="Aptos"/>
              </a:defRPr>
            </a:pPr>
            <a:r>
              <a:rPr sz="1600"/>
              <a:t>• Tweet count and engagement</a:t>
            </a:r>
          </a:p>
          <a:p>
            <a:pPr>
              <a:spcAft>
                <a:spcPts val="800"/>
              </a:spcAft>
              <a:defRPr sz="1300">
                <a:solidFill>
                  <a:srgbClr val="F7F4FF"/>
                </a:solidFill>
                <a:latin typeface="Aptos"/>
              </a:defRPr>
            </a:pPr>
            <a:r>
              <a:rPr sz="1600"/>
              <a:t>• Keyword mentions and lags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5715000"/>
            <a:ext cx="8961120" cy="91440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54680" y="6016752"/>
            <a:ext cx="8321040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400" b="1">
                <a:solidFill>
                  <a:srgbClr val="F7F4FF"/>
                </a:solidFill>
                <a:latin typeface="Aptos"/>
              </a:defRPr>
            </a:pPr>
            <a:r>
              <a:t>Fair test: the project asks whether tweet features add value beyond oil-history features, not whether a model can memorize the dataset.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7744968"/>
            <a:ext cx="13258800" cy="20116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defRPr sz="650" b="0">
                <a:solidFill>
                  <a:srgbClr val="B7ACC9"/>
                </a:solidFill>
                <a:latin typeface="Aptos"/>
              </a:defRPr>
            </a:pPr>
            <a:r>
              <a:t>Source: Uploaded notebook: feature set and scaling cells.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31"/>
            <a:ext cx="14630400" cy="822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50240" y="320040"/>
            <a:ext cx="77296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13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960120"/>
            <a:ext cx="237744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6163056" y="1005840"/>
            <a:ext cx="2304288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15102A"/>
                </a:solidFill>
                <a:latin typeface="Aptos"/>
              </a:defRPr>
            </a:pPr>
            <a:r>
              <a:rPr sz="1600">
                <a:solidFill>
                  <a:schemeClr val="bg1"/>
                </a:solidFill>
              </a:rPr>
              <a:t>MODELING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417320"/>
            <a:ext cx="10972800" cy="47705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100" b="1">
                <a:solidFill>
                  <a:srgbClr val="15102A"/>
                </a:solidFill>
                <a:latin typeface="Aptos"/>
              </a:defRPr>
            </a:pPr>
            <a:r>
              <a:rPr sz="3100" dirty="0"/>
              <a:t>Model development and evaluation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377440"/>
            <a:ext cx="12435840" cy="214884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1097280" y="2377440"/>
            <a:ext cx="283464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1143000" y="2450592"/>
            <a:ext cx="2743200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600"/>
              <a:t>Task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2377440"/>
            <a:ext cx="484632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3977639" y="2450592"/>
            <a:ext cx="4754880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600"/>
              <a:t>Models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2377440"/>
            <a:ext cx="475488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8823960" y="2450592"/>
            <a:ext cx="4663440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rPr sz="1600"/>
              <a:t>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2724912"/>
            <a:ext cx="2834640" cy="600456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1170432" y="2807208"/>
            <a:ext cx="268833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600"/>
              <a:t>Regression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2724912"/>
            <a:ext cx="4846320" cy="600456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4005072" y="2807208"/>
            <a:ext cx="470001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600"/>
              <a:t>Dummy, Ridge, Huber, RF, GB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2724912"/>
            <a:ext cx="4754880" cy="600456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8851392" y="2807208"/>
            <a:ext cx="460857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600"/>
              <a:t>MAE, RMSE, R²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3325368"/>
            <a:ext cx="2834640" cy="600456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1170432" y="3407664"/>
            <a:ext cx="268833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600"/>
              <a:t>Classification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3325368"/>
            <a:ext cx="4846320" cy="600456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4005072" y="3407664"/>
            <a:ext cx="470001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600"/>
              <a:t>Dummy, Logistic, RF, GB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3325368"/>
            <a:ext cx="4754880" cy="600456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4" name="TextBox 33"/>
          <p:cNvSpPr txBox="1"/>
          <p:nvPr/>
        </p:nvSpPr>
        <p:spPr>
          <a:xfrm>
            <a:off x="8851392" y="3407664"/>
            <a:ext cx="460857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600"/>
              <a:t>Accuracy, Balanced Accuracy, F1, ROC AUC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3925823"/>
            <a:ext cx="2834640" cy="600456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6" name="TextBox 35"/>
          <p:cNvSpPr txBox="1"/>
          <p:nvPr/>
        </p:nvSpPr>
        <p:spPr>
          <a:xfrm>
            <a:off x="1170432" y="4008119"/>
            <a:ext cx="268833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7F4FF"/>
                </a:solidFill>
                <a:latin typeface="Aptos"/>
              </a:defRPr>
            </a:pPr>
            <a:r>
              <a:rPr sz="1600"/>
              <a:t>Interpretation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3925823"/>
            <a:ext cx="4846320" cy="600456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8" name="TextBox 37"/>
          <p:cNvSpPr txBox="1"/>
          <p:nvPr/>
        </p:nvSpPr>
        <p:spPr>
          <a:xfrm>
            <a:off x="4005072" y="4008119"/>
            <a:ext cx="470001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600"/>
              <a:t>Oil-only vs sentiment-enhanced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3925823"/>
            <a:ext cx="4754880" cy="600456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0" name="TextBox 39"/>
          <p:cNvSpPr txBox="1"/>
          <p:nvPr/>
        </p:nvSpPr>
        <p:spPr>
          <a:xfrm>
            <a:off x="8851392" y="4008119"/>
            <a:ext cx="460857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600"/>
              <a:t>Do not hide weak results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63040" y="5074920"/>
            <a:ext cx="2514600" cy="114300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2" name="TextBox 41"/>
          <p:cNvSpPr txBox="1"/>
          <p:nvPr/>
        </p:nvSpPr>
        <p:spPr>
          <a:xfrm>
            <a:off x="1664208" y="5294376"/>
            <a:ext cx="2112264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rPr sz="1600"/>
              <a:t>Dummy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7632" y="5760720"/>
            <a:ext cx="218541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600"/>
              <a:t>no-skill benchmark</a:t>
            </a:r>
          </a:p>
        </p:txBody>
      </p:sp>
      <p:sp>
        <p:nvSpPr>
          <p:cNvPr id="44" name="Oval 43"/>
          <p:cNvSpPr/>
          <p:nvPr/>
        </p:nvSpPr>
        <p:spPr>
          <a:xfrm>
            <a:off x="1664208" y="5230368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5" name="Rounded Rectangle 44"/>
          <p:cNvSpPr/>
          <p:nvPr/>
        </p:nvSpPr>
        <p:spPr>
          <a:xfrm>
            <a:off x="4572000" y="5074920"/>
            <a:ext cx="2514600" cy="114300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6" name="TextBox 45"/>
          <p:cNvSpPr txBox="1"/>
          <p:nvPr/>
        </p:nvSpPr>
        <p:spPr>
          <a:xfrm>
            <a:off x="4773168" y="5294376"/>
            <a:ext cx="2112264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rPr sz="1600"/>
              <a:t>Oil-only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6592" y="5760720"/>
            <a:ext cx="218541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600"/>
              <a:t>market history only</a:t>
            </a:r>
          </a:p>
        </p:txBody>
      </p:sp>
      <p:sp>
        <p:nvSpPr>
          <p:cNvPr id="48" name="Oval 47"/>
          <p:cNvSpPr/>
          <p:nvPr/>
        </p:nvSpPr>
        <p:spPr>
          <a:xfrm>
            <a:off x="4773168" y="5230368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9" name="Rounded Rectangle 48"/>
          <p:cNvSpPr/>
          <p:nvPr/>
        </p:nvSpPr>
        <p:spPr>
          <a:xfrm>
            <a:off x="7680960" y="5074920"/>
            <a:ext cx="2514600" cy="114300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0" name="TextBox 49"/>
          <p:cNvSpPr txBox="1"/>
          <p:nvPr/>
        </p:nvSpPr>
        <p:spPr>
          <a:xfrm>
            <a:off x="7882128" y="5294376"/>
            <a:ext cx="2112264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rPr sz="1600"/>
              <a:t>Sentiment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45552" y="5760720"/>
            <a:ext cx="218541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600"/>
              <a:t>tweet-added signal</a:t>
            </a:r>
          </a:p>
        </p:txBody>
      </p:sp>
      <p:sp>
        <p:nvSpPr>
          <p:cNvPr id="52" name="Oval 51"/>
          <p:cNvSpPr/>
          <p:nvPr/>
        </p:nvSpPr>
        <p:spPr>
          <a:xfrm>
            <a:off x="7882128" y="523036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3" name="Rounded Rectangle 52"/>
          <p:cNvSpPr/>
          <p:nvPr/>
        </p:nvSpPr>
        <p:spPr>
          <a:xfrm>
            <a:off x="10789919" y="5074920"/>
            <a:ext cx="2514600" cy="114300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4" name="TextBox 53"/>
          <p:cNvSpPr txBox="1"/>
          <p:nvPr/>
        </p:nvSpPr>
        <p:spPr>
          <a:xfrm>
            <a:off x="10991088" y="5294376"/>
            <a:ext cx="2112264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rPr sz="1600"/>
              <a:t>Balanced accuracy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54511" y="5760720"/>
            <a:ext cx="2185416" cy="24622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600"/>
              <a:t>fairer under imbalance</a:t>
            </a:r>
          </a:p>
        </p:txBody>
      </p:sp>
      <p:sp>
        <p:nvSpPr>
          <p:cNvPr id="56" name="Oval 55"/>
          <p:cNvSpPr/>
          <p:nvPr/>
        </p:nvSpPr>
        <p:spPr>
          <a:xfrm>
            <a:off x="10991088" y="5230368"/>
            <a:ext cx="82296" cy="82296"/>
          </a:xfrm>
          <a:prstGeom prst="ellipse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9392" y="3703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5102A"/>
                </a:solidFill>
                <a:latin typeface="Aptos"/>
              </a:defRPr>
            </a:pPr>
            <a:r>
              <a:t>OilSignal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14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60120"/>
            <a:ext cx="246888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1005840"/>
            <a:ext cx="239572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/>
              <a:t>CODE 7 —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417320"/>
            <a:ext cx="109728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100" b="1">
                <a:solidFill>
                  <a:srgbClr val="F7F4FF"/>
                </a:solidFill>
                <a:latin typeface="Aptos"/>
              </a:defRPr>
            </a:pPr>
            <a:r>
              <a:rPr dirty="0"/>
              <a:t>Model dictionaries for fair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148840"/>
            <a:ext cx="8138160" cy="4800600"/>
          </a:xfrm>
          <a:prstGeom prst="roundRect">
            <a:avLst/>
          </a:prstGeom>
          <a:solidFill>
            <a:srgbClr val="07050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2688" y="2249424"/>
            <a:ext cx="7918704" cy="292608"/>
          </a:xfrm>
          <a:prstGeom prst="roundRect">
            <a:avLst/>
          </a:prstGeom>
          <a:solidFill>
            <a:srgbClr val="15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1560" y="2350008"/>
            <a:ext cx="64008" cy="640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97863" y="2350008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44168" y="2350008"/>
            <a:ext cx="64008" cy="6400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2651760"/>
            <a:ext cx="7635240" cy="341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19">
                <a:solidFill>
                  <a:srgbClr val="E8DDFF"/>
                </a:solidFill>
                <a:latin typeface="Courier New"/>
              </a:defRPr>
            </a:pPr>
            <a:r>
              <a:rPr sz="1200"/>
              <a:t>regression_models = {</a:t>
            </a:r>
            <a:br>
              <a:rPr sz="1200"/>
            </a:br>
            <a:r>
              <a:rPr sz="1200"/>
              <a:t> 'Dummy Mean': ('baseline', DummyRegressor(strategy='mean')),</a:t>
            </a:r>
            <a:br>
              <a:rPr sz="1200"/>
            </a:br>
            <a:r>
              <a:rPr sz="1200"/>
              <a:t> 'Oil Baseline RF': ('baseline', RandomForestRegressor(</a:t>
            </a:r>
            <a:br>
              <a:rPr sz="1200"/>
            </a:br>
            <a:r>
              <a:rPr sz="1200"/>
              <a:t>     n_estimators=250, max_depth=5, random_state=RANDOM_STATE)),</a:t>
            </a:r>
            <a:br>
              <a:rPr sz="1200"/>
            </a:br>
            <a:r>
              <a:rPr sz="1200"/>
              <a:t> 'Sentiment RF': ('sentiment', RandomForestRegressor(</a:t>
            </a:r>
            <a:br>
              <a:rPr sz="1200"/>
            </a:br>
            <a:r>
              <a:rPr sz="1200"/>
              <a:t>     n_estimators=250, max_depth=5, random_state=RANDOM_STATE)),</a:t>
            </a:r>
            <a:br>
              <a:rPr sz="1200"/>
            </a:br>
            <a:r>
              <a:rPr sz="1200"/>
              <a:t> 'Sentiment GB': ('sentiment', GradientBoostingRegressor(</a:t>
            </a:r>
            <a:br>
              <a:rPr sz="1200"/>
            </a:br>
            <a:r>
              <a:rPr sz="1200"/>
              <a:t>     n_estimators=150, max_depth=2, learning_rate=0.05,</a:t>
            </a:r>
            <a:br>
              <a:rPr sz="1200"/>
            </a:br>
            <a:r>
              <a:rPr sz="1200"/>
              <a:t>     random_state=RANDOM_STATE))</a:t>
            </a:r>
            <a:br>
              <a:rPr sz="1200"/>
            </a:br>
            <a:r>
              <a:rPr sz="1200"/>
              <a:t>}</a:t>
            </a:r>
            <a:br>
              <a:rPr sz="1200"/>
            </a:br>
            <a:r>
              <a:rPr sz="1200"/>
              <a:t/>
            </a:r>
            <a:br>
              <a:rPr sz="1200"/>
            </a:br>
            <a:r>
              <a:rPr sz="1200"/>
              <a:t>classification_models = {</a:t>
            </a:r>
            <a:br>
              <a:rPr sz="1200"/>
            </a:br>
            <a:r>
              <a:rPr sz="1200"/>
              <a:t> 'Dummy Majority': ('baseline', DummyClassifier(strategy='most_frequent')),</a:t>
            </a:r>
            <a:br>
              <a:rPr sz="1200"/>
            </a:br>
            <a:r>
              <a:rPr sz="1200"/>
              <a:t> 'Oil Baseline RF': ('baseline', RandomForestClassifier(</a:t>
            </a:r>
            <a:br>
              <a:rPr sz="1200"/>
            </a:br>
            <a:r>
              <a:rPr sz="1200"/>
              <a:t>     n_estimators=250, max_depth=5, class_weight='balanced')),</a:t>
            </a:r>
            <a:br>
              <a:rPr sz="1200"/>
            </a:br>
            <a:r>
              <a:rPr sz="1200"/>
              <a:t> 'Sentiment RF': ('sentiment', RandomForestClassifier(</a:t>
            </a:r>
            <a:br>
              <a:rPr sz="1200"/>
            </a:br>
            <a:r>
              <a:rPr sz="1200"/>
              <a:t>     n_estimators=250, max_depth=5, class_weight='balanced'))</a:t>
            </a:r>
            <a:br>
              <a:rPr sz="1200"/>
            </a:br>
            <a:r>
              <a:rPr sz="1200"/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2514600"/>
            <a:ext cx="4069080" cy="361188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20" y="2880360"/>
            <a:ext cx="3520440" cy="255454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F7F4FF"/>
                </a:solidFill>
                <a:latin typeface="Aptos"/>
              </a:defRPr>
            </a:pPr>
            <a:r>
              <a:rPr sz="1600"/>
              <a:t>• Dummy models define the minimum benchmark.</a:t>
            </a:r>
            <a:br>
              <a:rPr sz="1600"/>
            </a:br>
            <a:r>
              <a:rPr sz="1600"/>
              <a:t>• Oil-only models test price-history information.</a:t>
            </a:r>
            <a:br>
              <a:rPr sz="1600"/>
            </a:br>
            <a:r>
              <a:rPr sz="1600"/>
              <a:t>• Sentiment models test the added value of tweets.</a:t>
            </a:r>
            <a:br>
              <a:rPr sz="1600"/>
            </a:br>
            <a:r>
              <a:rPr sz="1600"/>
              <a:t>• RF and GB capture nonlinear relationships.</a:t>
            </a:r>
            <a:br>
              <a:rPr sz="1600"/>
            </a:br>
            <a:r>
              <a:rPr sz="1600"/>
              <a:t>• Balanced class weights reduce bias from class imbalance.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9392" y="3703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5102A"/>
                </a:solidFill>
                <a:latin typeface="Aptos"/>
              </a:defRPr>
            </a:pPr>
            <a:r>
              <a:t>OilSignal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15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960120"/>
            <a:ext cx="210312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1005840"/>
            <a:ext cx="2029967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 dirty="0"/>
              <a:t>MODEL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417320"/>
            <a:ext cx="109728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100" b="1">
                <a:solidFill>
                  <a:srgbClr val="F7F4FF"/>
                </a:solidFill>
                <a:latin typeface="Aptos"/>
              </a:defRPr>
            </a:pPr>
            <a:r>
              <a:t>Regression and classification results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514600"/>
            <a:ext cx="2743200" cy="141732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29968" y="2734056"/>
            <a:ext cx="234086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rPr lang="en-US" sz="2400" b="1" dirty="0" smtClean="0"/>
              <a:t>-0.0205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993392" y="3200400"/>
            <a:ext cx="2414016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t>best R²: Dummy Mean</a:t>
            </a:r>
          </a:p>
        </p:txBody>
      </p:sp>
      <p:sp>
        <p:nvSpPr>
          <p:cNvPr id="19" name="Oval 18"/>
          <p:cNvSpPr/>
          <p:nvPr/>
        </p:nvSpPr>
        <p:spPr>
          <a:xfrm>
            <a:off x="2029968" y="2670048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892040" y="2514600"/>
            <a:ext cx="2743200" cy="141732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93207" y="2734056"/>
            <a:ext cx="234086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rPr lang="en-US" sz="2400" b="1" dirty="0"/>
              <a:t>2.0340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5056631" y="3200400"/>
            <a:ext cx="2414016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t>MAE for Dummy Mean</a:t>
            </a:r>
          </a:p>
        </p:txBody>
      </p:sp>
      <p:sp>
        <p:nvSpPr>
          <p:cNvPr id="23" name="Oval 22"/>
          <p:cNvSpPr/>
          <p:nvPr/>
        </p:nvSpPr>
        <p:spPr>
          <a:xfrm>
            <a:off x="5093207" y="2670048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955279" y="2514600"/>
            <a:ext cx="2743200" cy="141732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56448" y="2734056"/>
            <a:ext cx="234086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t>0.5197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3200400"/>
            <a:ext cx="2414016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t>Sentiment RF accuracy</a:t>
            </a:r>
          </a:p>
        </p:txBody>
      </p:sp>
      <p:sp>
        <p:nvSpPr>
          <p:cNvPr id="27" name="Oval 26"/>
          <p:cNvSpPr/>
          <p:nvPr/>
        </p:nvSpPr>
        <p:spPr>
          <a:xfrm>
            <a:off x="8156448" y="267004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018520" y="2514600"/>
            <a:ext cx="2286000" cy="141732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19688" y="2734056"/>
            <a:ext cx="188366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t>0.5257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3112" y="3200400"/>
            <a:ext cx="1956816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t>balanced accuracy</a:t>
            </a:r>
          </a:p>
        </p:txBody>
      </p:sp>
      <p:sp>
        <p:nvSpPr>
          <p:cNvPr id="31" name="Oval 30"/>
          <p:cNvSpPr/>
          <p:nvPr/>
        </p:nvSpPr>
        <p:spPr>
          <a:xfrm>
            <a:off x="11219688" y="2670048"/>
            <a:ext cx="82296" cy="82296"/>
          </a:xfrm>
          <a:prstGeom prst="ellipse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011680" y="4663440"/>
            <a:ext cx="10607040" cy="141732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31720" y="4983480"/>
            <a:ext cx="9966960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700" b="1">
                <a:solidFill>
                  <a:srgbClr val="F7F4FF"/>
                </a:solidFill>
                <a:latin typeface="Aptos"/>
              </a:defRPr>
            </a:pPr>
            <a:r>
              <a:t>Key conclusion: sentiment added a small directional signal, but it did not strongly explain the size of next-day oil returns.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532120"/>
            <a:ext cx="950976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300" b="0">
                <a:solidFill>
                  <a:srgbClr val="B7ACC9"/>
                </a:solidFill>
                <a:latin typeface="Aptos"/>
              </a:defRPr>
            </a:pPr>
            <a:r>
              <a:t>The gain over oil-only RF balanced accuracy was about +0.0120: useful academically, but too small to overclaim.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9392" y="3703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5102A"/>
                </a:solidFill>
                <a:latin typeface="Aptos"/>
              </a:defRPr>
            </a:pPr>
            <a:r>
              <a:t>OilSignal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16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960120"/>
            <a:ext cx="237744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1005840"/>
            <a:ext cx="230428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/>
              <a:t>ERROR REALITY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207623" y="1615934"/>
            <a:ext cx="9384464" cy="47705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100" b="1">
                <a:solidFill>
                  <a:srgbClr val="F7F4FF"/>
                </a:solidFill>
                <a:latin typeface="Aptos"/>
              </a:defRPr>
            </a:pPr>
            <a:r>
              <a:rPr dirty="0"/>
              <a:t>Confusion matrix and error reality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468880"/>
            <a:ext cx="5669280" cy="182880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0" y="2468880"/>
            <a:ext cx="201168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74519" y="2542032"/>
            <a:ext cx="192024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40480" y="2468880"/>
            <a:ext cx="182880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86200" y="2542032"/>
            <a:ext cx="173736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t>Pred Down/Flat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468880"/>
            <a:ext cx="1828800" cy="347472"/>
          </a:xfrm>
          <a:prstGeom prst="rect">
            <a:avLst/>
          </a:prstGeom>
          <a:solidFill>
            <a:srgbClr val="221845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0" y="2542032"/>
            <a:ext cx="173736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1">
                <a:solidFill>
                  <a:srgbClr val="F7F4FF"/>
                </a:solidFill>
                <a:latin typeface="Aptos"/>
              </a:defRPr>
            </a:pPr>
            <a:r>
              <a:t>Pred 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2816352"/>
            <a:ext cx="2011680" cy="740664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01952" y="2898648"/>
            <a:ext cx="18653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200"/>
              <a:t>Actual Down/Flat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816352"/>
            <a:ext cx="1828800" cy="740664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13632" y="2898648"/>
            <a:ext cx="1682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90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816352"/>
            <a:ext cx="1828800" cy="740664"/>
          </a:xfrm>
          <a:prstGeom prst="rect">
            <a:avLst/>
          </a:prstGeom>
          <a:solidFill>
            <a:srgbClr val="0F0B20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42432" y="2898648"/>
            <a:ext cx="1682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114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3557016"/>
            <a:ext cx="2011680" cy="740664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01952" y="3639312"/>
            <a:ext cx="186537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1">
                <a:solidFill>
                  <a:srgbClr val="F59E0B"/>
                </a:solidFill>
                <a:latin typeface="Aptos"/>
              </a:defRPr>
            </a:pPr>
            <a:r>
              <a:rPr sz="1200"/>
              <a:t>Actual 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3557016"/>
            <a:ext cx="1828800" cy="740664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13632" y="3639312"/>
            <a:ext cx="1682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69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557016"/>
            <a:ext cx="1828800" cy="740664"/>
          </a:xfrm>
          <a:prstGeom prst="rect">
            <a:avLst/>
          </a:prstGeom>
          <a:solidFill>
            <a:srgbClr val="130E28"/>
          </a:solidFill>
          <a:ln>
            <a:solidFill>
              <a:srgbClr val="2E2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42432" y="3639312"/>
            <a:ext cx="1682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80" b="0">
                <a:solidFill>
                  <a:srgbClr val="B7ACC9"/>
                </a:solidFill>
                <a:latin typeface="Aptos"/>
              </a:defRPr>
            </a:pPr>
            <a:r>
              <a:rPr sz="1200"/>
              <a:t>108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26480" y="4448085"/>
            <a:ext cx="1955080" cy="88879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927648" y="4629613"/>
            <a:ext cx="160934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rPr dirty="0"/>
              <a:t>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016980"/>
            <a:ext cx="1682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200" dirty="0"/>
              <a:t>correct down/flat</a:t>
            </a:r>
          </a:p>
        </p:txBody>
      </p:sp>
      <p:sp>
        <p:nvSpPr>
          <p:cNvPr id="38" name="Oval 37"/>
          <p:cNvSpPr/>
          <p:nvPr/>
        </p:nvSpPr>
        <p:spPr>
          <a:xfrm>
            <a:off x="1970477" y="4624549"/>
            <a:ext cx="160076" cy="146833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233672" y="4438678"/>
            <a:ext cx="1929384" cy="888790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0" y="4587382"/>
            <a:ext cx="160934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9964" y="4996196"/>
            <a:ext cx="1682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200"/>
              <a:t>correct up</a:t>
            </a:r>
          </a:p>
        </p:txBody>
      </p:sp>
      <p:sp>
        <p:nvSpPr>
          <p:cNvPr id="42" name="Oval 41"/>
          <p:cNvSpPr/>
          <p:nvPr/>
        </p:nvSpPr>
        <p:spPr>
          <a:xfrm>
            <a:off x="4443461" y="4641473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726480" y="5477138"/>
            <a:ext cx="1955080" cy="951204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1913700" y="5676094"/>
            <a:ext cx="160934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91072" y="6067559"/>
            <a:ext cx="1682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200"/>
              <a:t>false up</a:t>
            </a:r>
          </a:p>
        </p:txBody>
      </p:sp>
      <p:sp>
        <p:nvSpPr>
          <p:cNvPr id="46" name="Oval 45"/>
          <p:cNvSpPr/>
          <p:nvPr/>
        </p:nvSpPr>
        <p:spPr>
          <a:xfrm>
            <a:off x="1890608" y="5696940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241948" y="5418235"/>
            <a:ext cx="1921108" cy="1010107"/>
          </a:xfrm>
          <a:prstGeom prst="roundRect">
            <a:avLst/>
          </a:prstGeom>
          <a:solidFill>
            <a:srgbClr val="0E0A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4443116" y="5634612"/>
            <a:ext cx="1609344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400" b="1">
                <a:solidFill>
                  <a:srgbClr val="F7F4FF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4133" y="6020202"/>
            <a:ext cx="168249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850" b="0">
                <a:solidFill>
                  <a:srgbClr val="B7ACC9"/>
                </a:solidFill>
                <a:latin typeface="Aptos"/>
              </a:defRPr>
            </a:pPr>
            <a:r>
              <a:rPr sz="1200"/>
              <a:t>false down/flat</a:t>
            </a:r>
          </a:p>
        </p:txBody>
      </p:sp>
      <p:sp>
        <p:nvSpPr>
          <p:cNvPr id="50" name="Oval 49"/>
          <p:cNvSpPr/>
          <p:nvPr/>
        </p:nvSpPr>
        <p:spPr>
          <a:xfrm>
            <a:off x="4465108" y="5664178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2057400" y="6658618"/>
            <a:ext cx="10241280" cy="802886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23160" y="6807708"/>
            <a:ext cx="950976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400" b="1">
                <a:solidFill>
                  <a:srgbClr val="F7F4FF"/>
                </a:solidFill>
                <a:latin typeface="Aptos"/>
              </a:defRPr>
            </a:pPr>
            <a:r>
              <a:rPr dirty="0"/>
              <a:t>The confusion matrix proves the model is not strong enough for trading, but it is strong enough to support a weak-signal academic conclusion.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5105894-3436-9F73-FBB4-11044B541CF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82139" y="2430993"/>
            <a:ext cx="5596128" cy="19320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E032868E-077B-2DBB-CD02-20AFDED70260}"/>
              </a:ext>
            </a:extLst>
          </p:cNvPr>
          <p:cNvSpPr txBox="1"/>
          <p:nvPr/>
        </p:nvSpPr>
        <p:spPr>
          <a:xfrm>
            <a:off x="8027275" y="1578936"/>
            <a:ext cx="617486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solidFill>
                  <a:schemeClr val="bg1"/>
                </a:solidFill>
                <a:latin typeface="Aptos" panose="020B0004020202020204" pitchFamily="34" charset="0"/>
              </a:rPr>
              <a:t>Event study and model</a:t>
            </a:r>
            <a:r>
              <a:rPr lang="ar-JO" sz="29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2900" b="1" dirty="0">
                <a:solidFill>
                  <a:schemeClr val="bg1"/>
                </a:solidFill>
                <a:latin typeface="Aptos" panose="020B0004020202020204" pitchFamily="34" charset="0"/>
              </a:rPr>
              <a:t>comparison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9392" y="3703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5102A"/>
                </a:solidFill>
                <a:latin typeface="Aptos"/>
              </a:defRPr>
            </a:pPr>
            <a:r>
              <a:t>OilSignal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17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60120"/>
            <a:ext cx="2468880" cy="256032"/>
          </a:xfrm>
          <a:prstGeom prst="roundRect">
            <a:avLst/>
          </a:prstGeom>
          <a:solidFill>
            <a:srgbClr val="180738"/>
          </a:solidFill>
          <a:ln w="20320">
            <a:solidFill>
              <a:srgbClr val="EA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1005840"/>
            <a:ext cx="239572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>
                <a:solidFill>
                  <a:srgbClr val="EABA4A"/>
                </a:solidFill>
              </a:rPr>
              <a:t>POWER BI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417320"/>
            <a:ext cx="118872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800" b="1">
                <a:solidFill>
                  <a:srgbClr val="F7F4FF"/>
                </a:solidFill>
                <a:latin typeface="Aptos"/>
              </a:defRPr>
            </a:pPr>
            <a:r>
              <a:t>Dashboard 1 — Tweet volume and oil return overview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2084831"/>
            <a:ext cx="8997696" cy="4974336"/>
          </a:xfrm>
          <a:prstGeom prst="roundRect">
            <a:avLst/>
          </a:prstGeom>
          <a:solidFill>
            <a:srgbClr val="180738"/>
          </a:solidFill>
          <a:ln w="20320">
            <a:solidFill>
              <a:srgbClr val="57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58400" y="2468880"/>
            <a:ext cx="3474720" cy="3566160"/>
          </a:xfrm>
          <a:prstGeom prst="roundRect">
            <a:avLst/>
          </a:prstGeom>
          <a:solidFill>
            <a:srgbClr val="180738"/>
          </a:solidFill>
          <a:ln w="20320">
            <a:solidFill>
              <a:srgbClr val="EA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20" y="2788920"/>
            <a:ext cx="2926080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Aptos"/>
              </a:defRPr>
            </a:pPr>
            <a:r>
              <a:rPr>
                <a:solidFill>
                  <a:srgbClr val="FAF8FF"/>
                </a:solidFill>
              </a:rPr>
              <a:t>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3246120"/>
            <a:ext cx="2788920" cy="23083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7F4FF"/>
                </a:solidFill>
                <a:latin typeface="Aptos"/>
              </a:defRPr>
            </a:pPr>
            <a:r>
              <a:rPr sz="1600">
                <a:solidFill>
                  <a:srgbClr val="FAF8FF"/>
                </a:solidFill>
              </a:rPr>
              <a:t>• Summarizes tweet count, average sentiment, positive/negative tweets, and next-day oil return.</a:t>
            </a:r>
            <a:r>
              <a:rPr sz="1600"/>
              <a:t/>
            </a:r>
            <a:br>
              <a:rPr sz="1600"/>
            </a:br>
            <a:r>
              <a:rPr sz="1600">
                <a:solidFill>
                  <a:srgbClr val="FAF8FF"/>
                </a:solidFill>
              </a:rPr>
              <a:t>• Helps explain the dataset before model results.</a:t>
            </a:r>
            <a:r>
              <a:rPr sz="1600"/>
              <a:t/>
            </a:r>
            <a:br>
              <a:rPr sz="1600"/>
            </a:br>
            <a:r>
              <a:rPr sz="1600">
                <a:solidFill>
                  <a:srgbClr val="FAF8FF"/>
                </a:solidFill>
              </a:rPr>
              <a:t>• This dashboard gives context; it does not prove prediction by itself.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1DD8C8E-858E-A1AC-E32E-80123EAC2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59"/>
            <a:ext cx="8778240" cy="47548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18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60120"/>
            <a:ext cx="2468880" cy="256032"/>
          </a:xfrm>
          <a:prstGeom prst="roundRect">
            <a:avLst/>
          </a:prstGeom>
          <a:solidFill>
            <a:srgbClr val="180738"/>
          </a:solidFill>
          <a:ln w="20320">
            <a:solidFill>
              <a:srgbClr val="EA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1005840"/>
            <a:ext cx="239572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>
                <a:solidFill>
                  <a:srgbClr val="EABA4A"/>
                </a:solidFill>
              </a:rPr>
              <a:t>POWER BI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417320"/>
            <a:ext cx="118872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800" b="1">
                <a:solidFill>
                  <a:srgbClr val="F7F4FF"/>
                </a:solidFill>
                <a:latin typeface="Aptos"/>
              </a:defRPr>
            </a:pPr>
            <a:r>
              <a:t>Dashboard 2 — Sentiment distribution and keywords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2084831"/>
            <a:ext cx="8997696" cy="4974336"/>
          </a:xfrm>
          <a:prstGeom prst="roundRect">
            <a:avLst/>
          </a:prstGeom>
          <a:solidFill>
            <a:srgbClr val="180738"/>
          </a:solidFill>
          <a:ln w="20320">
            <a:solidFill>
              <a:srgbClr val="57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58400" y="2468880"/>
            <a:ext cx="3474720" cy="3566160"/>
          </a:xfrm>
          <a:prstGeom prst="roundRect">
            <a:avLst/>
          </a:prstGeom>
          <a:solidFill>
            <a:srgbClr val="180738"/>
          </a:solidFill>
          <a:ln w="20320">
            <a:solidFill>
              <a:srgbClr val="EA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20" y="2788920"/>
            <a:ext cx="2926080" cy="2560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400" b="1">
                <a:solidFill>
                  <a:srgbClr val="D946EF"/>
                </a:solidFill>
                <a:latin typeface="Aptos"/>
              </a:defRPr>
            </a:pPr>
            <a:r>
              <a:rPr>
                <a:solidFill>
                  <a:srgbClr val="FAF8FF"/>
                </a:solidFill>
              </a:rPr>
              <a:t>Key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3246120"/>
            <a:ext cx="2788920" cy="23083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F7F4FF"/>
                </a:solidFill>
                <a:latin typeface="Aptos"/>
              </a:defRPr>
            </a:pPr>
            <a:r>
              <a:rPr sz="1600">
                <a:solidFill>
                  <a:srgbClr val="FAF8FF"/>
                </a:solidFill>
              </a:rPr>
              <a:t>• Positive and negative sentiment are compared across time.</a:t>
            </a:r>
            <a:r>
              <a:rPr sz="1600"/>
              <a:t/>
            </a:r>
            <a:br>
              <a:rPr sz="1600"/>
            </a:br>
            <a:r>
              <a:rPr sz="1600">
                <a:solidFill>
                  <a:srgbClr val="FAF8FF"/>
                </a:solidFill>
              </a:rPr>
              <a:t>• Market keywords appear more often than direct oil keywords.</a:t>
            </a:r>
            <a:r>
              <a:rPr sz="1600"/>
              <a:t/>
            </a:r>
            <a:br>
              <a:rPr sz="1600"/>
            </a:br>
            <a:r>
              <a:rPr sz="1600">
                <a:solidFill>
                  <a:srgbClr val="FAF8FF"/>
                </a:solidFill>
              </a:rPr>
              <a:t>• This justifies keyword engineering instead of relying on raw sentiment only.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5D4C8BF-41A3-BABF-56C1-D483170DE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04" y="2265706"/>
            <a:ext cx="8716431" cy="45465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23 / 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960120"/>
            <a:ext cx="228600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08776" y="1005840"/>
            <a:ext cx="221284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15102A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GDPR ETHICAL STANDARDS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417320"/>
            <a:ext cx="118872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800" b="1">
                <a:solidFill>
                  <a:srgbClr val="15102A"/>
                </a:solidFill>
                <a:latin typeface="Aptos"/>
              </a:defRPr>
            </a:pPr>
            <a:r>
              <a:t>How GDPR applies to our Trump tweets and crude oil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331720"/>
            <a:ext cx="5989320" cy="2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2600000"/>
            <a:ext cx="5394960" cy="39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500" b="1">
                <a:latin typeface="Aptos"/>
              </a:rPr>
              <a:t>1. Lawfulness, Fairness &amp; Transparency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80000"/>
            <a:ext cx="5303520" cy="1050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800">
                <a:latin typeface="Aptos"/>
              </a:rPr>
              <a:t>Use public posts only for academic analysis and explain sentiment as a weak signal, not a personal judgment or causal claim.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2331720"/>
            <a:ext cx="5989320" cy="2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2600000"/>
            <a:ext cx="5394960" cy="390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500" b="1">
                <a:latin typeface="Aptos"/>
              </a:rPr>
              <a:t>2. Data Minimisation &amp; Purpose Limitation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180000"/>
            <a:ext cx="5303520" cy="1050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800">
                <a:latin typeface="Aptos"/>
              </a:rPr>
              <a:t>Keep only project-needed fields such as date, cleaned text, sentiment, keywords, and engagement; use them only to test oil-price signal.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250000"/>
            <a:ext cx="12436000" cy="1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280" y="5510000"/>
            <a:ext cx="11796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B4DFF"/>
                </a:solidFill>
                <a:latin typeface="Aptos"/>
              </a:rPr>
              <a:t>3. Integrity, Confidentiality &amp; Accountability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280" y="5930000"/>
            <a:ext cx="900759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191731"/>
                </a:solidFill>
                <a:latin typeface="Aptos"/>
              </a:rPr>
              <a:t>Store project files, code, and dashboards securely; document the methodology clearly</a:t>
            </a:r>
            <a:endParaRPr lang="ar-JO" sz="1800" dirty="0">
              <a:solidFill>
                <a:srgbClr val="191731"/>
              </a:solidFill>
              <a:latin typeface="Aptos"/>
            </a:endParaRPr>
          </a:p>
          <a:p>
            <a:r>
              <a:rPr sz="1800" dirty="0">
                <a:solidFill>
                  <a:srgbClr val="191731"/>
                </a:solidFill>
                <a:latin typeface="Aptos"/>
              </a:rPr>
              <a:t> and report results honestly without exaggerated causal claims.</a:t>
            </a:r>
          </a:p>
        </p:txBody>
      </p:sp>
    </p:spTree>
    <p:extLst>
      <p:ext uri="{BB962C8B-B14F-4D97-AF65-F5344CB8AC3E}">
        <p14:creationId xmlns:p14="http://schemas.microsoft.com/office/powerpoint/2010/main" val="1797530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20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960120"/>
            <a:ext cx="228600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08776" y="1005840"/>
            <a:ext cx="221284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15102A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LIMITATIONS + FUTURE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417320"/>
            <a:ext cx="118872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800" b="1">
                <a:solidFill>
                  <a:srgbClr val="15102A"/>
                </a:solidFill>
                <a:latin typeface="Aptos"/>
              </a:defRPr>
            </a:pPr>
            <a:r>
              <a:t>What the project cannot prove — and how to improve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331720"/>
            <a:ext cx="598932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2697480"/>
            <a:ext cx="539496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46120"/>
            <a:ext cx="5303520" cy="15696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5102A"/>
                </a:solidFill>
                <a:latin typeface="Aptos"/>
              </a:defRPr>
            </a:pPr>
            <a:r>
              <a:rPr sz="1600" dirty="0"/>
              <a:t>• No causal proof between tweets and oil movement.</a:t>
            </a:r>
            <a:br>
              <a:rPr sz="1600" dirty="0"/>
            </a:br>
            <a:r>
              <a:rPr sz="1600" dirty="0"/>
              <a:t>• Missing macro drivers: OPEC, EIA inventories, rates, FX, inflation, geopolitical shocks.</a:t>
            </a:r>
            <a:br>
              <a:rPr sz="1600" dirty="0"/>
            </a:br>
            <a:r>
              <a:rPr sz="1600" dirty="0"/>
              <a:t>• General sentiment tools may misread sarcasm or political tone.</a:t>
            </a:r>
            <a:br>
              <a:rPr sz="1600" dirty="0"/>
            </a:br>
            <a:endParaRPr sz="1600" dirty="0"/>
          </a:p>
        </p:txBody>
      </p:sp>
      <p:sp>
        <p:nvSpPr>
          <p:cNvPr id="19" name="Rounded Rectangle 18"/>
          <p:cNvSpPr/>
          <p:nvPr/>
        </p:nvSpPr>
        <p:spPr>
          <a:xfrm>
            <a:off x="7543800" y="2331720"/>
            <a:ext cx="598932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2697480"/>
            <a:ext cx="539496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246120"/>
            <a:ext cx="5303520" cy="15696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5102A"/>
                </a:solidFill>
                <a:latin typeface="Aptos"/>
              </a:defRPr>
            </a:pPr>
            <a:r>
              <a:rPr sz="1600"/>
              <a:t>• Add OPEC, EIA, inflation, rates, FX, and geopolitical datasets.</a:t>
            </a:r>
            <a:br>
              <a:rPr sz="1600"/>
            </a:br>
            <a:r>
              <a:rPr sz="1600"/>
              <a:t>• Use exact tweet timestamps with hourly oil prices.</a:t>
            </a:r>
            <a:br>
              <a:rPr sz="1600"/>
            </a:br>
            <a:r>
              <a:rPr sz="1600"/>
              <a:t>• Try financial NLP models such as FinBERT.</a:t>
            </a:r>
            <a:br>
              <a:rPr sz="1600"/>
            </a:br>
            <a:r>
              <a:rPr sz="1600"/>
              <a:t>• Connect oil movement to supply-chain indicators like fuel cost and shipping prices.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31"/>
            <a:ext cx="14630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79392" y="3703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" b="1">
                <a:solidFill>
                  <a:srgbClr val="15102A"/>
                </a:solidFill>
                <a:latin typeface="Aptos"/>
              </a:defRPr>
            </a:pPr>
            <a:r>
              <a:t>OilSignal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7490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">
                <a:solidFill>
                  <a:srgbClr val="15102A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320040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21 /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43000"/>
            <a:ext cx="2377440" cy="256032"/>
          </a:xfrm>
          <a:prstGeom prst="roundRect">
            <a:avLst/>
          </a:prstGeom>
          <a:solidFill>
            <a:srgbClr val="15102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1188720"/>
            <a:ext cx="2304288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750" b="0">
                <a:solidFill>
                  <a:srgbClr val="F7F4FF"/>
                </a:solidFill>
                <a:latin typeface="Aptos"/>
              </a:defRPr>
            </a:pPr>
            <a:r>
              <a:rPr sz="1200"/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691640"/>
            <a:ext cx="11887200" cy="6858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3400" b="1">
                <a:solidFill>
                  <a:srgbClr val="F7F4FF"/>
                </a:solidFill>
                <a:latin typeface="Aptos"/>
              </a:defRPr>
            </a:pPr>
            <a:r>
              <a:t>Final project conclusion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743200"/>
            <a:ext cx="10972800" cy="214884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40280" y="3127248"/>
            <a:ext cx="10149840" cy="3840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2000" b="1">
                <a:solidFill>
                  <a:srgbClr val="F7F4FF"/>
                </a:solidFill>
                <a:latin typeface="Aptos"/>
              </a:defRPr>
            </a:pPr>
            <a:r>
              <a:t>This project built a complete BI/DA workflow: text cleaning, sentiment scoring, feature engineering, leakage-safe validation, machine learning, dashboards, and interpretation.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014216"/>
            <a:ext cx="9692640" cy="4754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700" b="1">
                <a:solidFill>
                  <a:srgbClr val="F59E0B"/>
                </a:solidFill>
                <a:latin typeface="Aptos"/>
              </a:defRPr>
            </a:pPr>
            <a:r>
              <a:rPr dirty="0"/>
              <a:t>The main result is honest and defensible: Trump tweet sentiment contains only a limited directional signal for crude oil movement.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5394960"/>
            <a:ext cx="8595360" cy="960120"/>
          </a:xfrm>
          <a:prstGeom prst="roundRect">
            <a:avLst/>
          </a:prstGeom>
          <a:solidFill>
            <a:srgbClr val="0B0816"/>
          </a:solidFill>
          <a:ln w="1270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5687568"/>
            <a:ext cx="768096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defRPr sz="1500" b="1">
                <a:solidFill>
                  <a:srgbClr val="F7F4FF"/>
                </a:solidFill>
                <a:latin typeface="Aptos"/>
              </a:defRPr>
            </a:pPr>
            <a:r>
              <a:t>Final statement: the project is valuable because it avoids overclaiming and clearly shows what the data can and cannot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1564</Words>
  <Application>Microsoft Office PowerPoint</Application>
  <PresentationFormat>Custom</PresentationFormat>
  <Paragraphs>362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زيد فواز عاكف الرقاد</cp:lastModifiedBy>
  <cp:revision>12</cp:revision>
  <dcterms:created xsi:type="dcterms:W3CDTF">2013-01-27T09:14:16Z</dcterms:created>
  <dcterms:modified xsi:type="dcterms:W3CDTF">2026-06-12T13:13:40Z</dcterms:modified>
  <cp:category/>
</cp:coreProperties>
</file>